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2937"/>
    <a:srgbClr val="202937"/>
    <a:srgbClr val="4F86F7"/>
    <a:srgbClr val="5F5F5F"/>
    <a:srgbClr val="FFFFFF"/>
    <a:srgbClr val="6B7280"/>
    <a:srgbClr val="374151"/>
    <a:srgbClr val="F7F8FA"/>
    <a:srgbClr val="DEEBF7"/>
    <a:srgbClr val="D2E9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22506-46AB-45DC-8C54-A5051ACB53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658F6A-60D3-4D9A-9844-CFFB9351D37E}"/>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A2D09C-06CA-44F8-88E1-AC19B58C02C2}"/>
              </a:ext>
            </a:extLst>
          </p:cNvPr>
          <p:cNvSpPr>
            <a:spLocks noGrp="1"/>
          </p:cNvSpPr>
          <p:nvPr>
            <p:ph type="dt" sz="half" idx="10"/>
          </p:nvPr>
        </p:nvSpPr>
        <p:spPr>
          <a:xfrm>
            <a:off x="838200" y="6383193"/>
            <a:ext cx="2743200" cy="365125"/>
          </a:xfrm>
          <a:prstGeom prst="rect">
            <a:avLst/>
          </a:prstGeom>
        </p:spPr>
        <p:txBody>
          <a:bodyPr/>
          <a:lstStyle/>
          <a:p>
            <a:fld id="{DAFEB88B-4486-4ED6-B511-1E9297ABCA6F}" type="datetimeFigureOut">
              <a:rPr lang="en-IN" smtClean="0"/>
              <a:t>16-06-2026</a:t>
            </a:fld>
            <a:endParaRPr lang="en-IN"/>
          </a:p>
        </p:txBody>
      </p:sp>
      <p:sp>
        <p:nvSpPr>
          <p:cNvPr id="5" name="Footer Placeholder 4">
            <a:extLst>
              <a:ext uri="{FF2B5EF4-FFF2-40B4-BE49-F238E27FC236}">
                <a16:creationId xmlns:a16="http://schemas.microsoft.com/office/drawing/2014/main" id="{4A6B3D88-F93A-4A34-8F79-AA86ACCAFFAF}"/>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A97B3970-C442-444F-94AF-0DEB023E2045}"/>
              </a:ext>
            </a:extLst>
          </p:cNvPr>
          <p:cNvSpPr>
            <a:spLocks noGrp="1"/>
          </p:cNvSpPr>
          <p:nvPr>
            <p:ph type="sldNum" sz="quarter" idx="12"/>
          </p:nvPr>
        </p:nvSpPr>
        <p:spPr>
          <a:xfrm>
            <a:off x="8610600" y="6356350"/>
            <a:ext cx="2743200" cy="365125"/>
          </a:xfrm>
          <a:prstGeom prst="rect">
            <a:avLst/>
          </a:prstGeom>
        </p:spPr>
        <p:txBody>
          <a:bodyPr/>
          <a:lstStyle/>
          <a:p>
            <a:fld id="{178E7087-EB31-493C-9228-D783EC96FF74}" type="slidenum">
              <a:rPr lang="en-IN" smtClean="0"/>
              <a:t>‹#›</a:t>
            </a:fld>
            <a:endParaRPr lang="en-IN"/>
          </a:p>
        </p:txBody>
      </p:sp>
    </p:spTree>
    <p:extLst>
      <p:ext uri="{BB962C8B-B14F-4D97-AF65-F5344CB8AC3E}">
        <p14:creationId xmlns:p14="http://schemas.microsoft.com/office/powerpoint/2010/main" val="852782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CB953-02E9-405D-BD03-2FFF8BC3179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57AFB9-875B-4524-A598-8307E76ABE31}"/>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2515BD-224A-4F38-B5F5-706BE343A4DC}"/>
              </a:ext>
            </a:extLst>
          </p:cNvPr>
          <p:cNvSpPr>
            <a:spLocks noGrp="1"/>
          </p:cNvSpPr>
          <p:nvPr>
            <p:ph type="dt" sz="half" idx="10"/>
          </p:nvPr>
        </p:nvSpPr>
        <p:spPr>
          <a:xfrm>
            <a:off x="838200" y="6383193"/>
            <a:ext cx="2743200" cy="365125"/>
          </a:xfrm>
          <a:prstGeom prst="rect">
            <a:avLst/>
          </a:prstGeom>
        </p:spPr>
        <p:txBody>
          <a:bodyPr/>
          <a:lstStyle/>
          <a:p>
            <a:fld id="{DAFEB88B-4486-4ED6-B511-1E9297ABCA6F}" type="datetimeFigureOut">
              <a:rPr lang="en-IN" smtClean="0"/>
              <a:t>16-06-2026</a:t>
            </a:fld>
            <a:endParaRPr lang="en-IN"/>
          </a:p>
        </p:txBody>
      </p:sp>
      <p:sp>
        <p:nvSpPr>
          <p:cNvPr id="5" name="Footer Placeholder 4">
            <a:extLst>
              <a:ext uri="{FF2B5EF4-FFF2-40B4-BE49-F238E27FC236}">
                <a16:creationId xmlns:a16="http://schemas.microsoft.com/office/drawing/2014/main" id="{1889F8BB-8538-4940-B348-7BF98C0DBFBA}"/>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8CC3D5D9-4CA2-42EB-8A1F-AE289B74F113}"/>
              </a:ext>
            </a:extLst>
          </p:cNvPr>
          <p:cNvSpPr>
            <a:spLocks noGrp="1"/>
          </p:cNvSpPr>
          <p:nvPr>
            <p:ph type="sldNum" sz="quarter" idx="12"/>
          </p:nvPr>
        </p:nvSpPr>
        <p:spPr>
          <a:xfrm>
            <a:off x="8610600" y="6356350"/>
            <a:ext cx="2743200" cy="365125"/>
          </a:xfrm>
          <a:prstGeom prst="rect">
            <a:avLst/>
          </a:prstGeom>
        </p:spPr>
        <p:txBody>
          <a:bodyPr/>
          <a:lstStyle/>
          <a:p>
            <a:fld id="{178E7087-EB31-493C-9228-D783EC96FF74}" type="slidenum">
              <a:rPr lang="en-IN" smtClean="0"/>
              <a:t>‹#›</a:t>
            </a:fld>
            <a:endParaRPr lang="en-IN"/>
          </a:p>
        </p:txBody>
      </p:sp>
    </p:spTree>
    <p:extLst>
      <p:ext uri="{BB962C8B-B14F-4D97-AF65-F5344CB8AC3E}">
        <p14:creationId xmlns:p14="http://schemas.microsoft.com/office/powerpoint/2010/main" val="1604960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C256F-01A4-4667-8941-4FB3B8517B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9591FA6-D213-4A16-9070-0D6ECF00B2B4}"/>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9066F5-A897-4EDB-B1D6-2353753B396F}"/>
              </a:ext>
            </a:extLst>
          </p:cNvPr>
          <p:cNvSpPr>
            <a:spLocks noGrp="1"/>
          </p:cNvSpPr>
          <p:nvPr>
            <p:ph type="dt" sz="half" idx="10"/>
          </p:nvPr>
        </p:nvSpPr>
        <p:spPr>
          <a:xfrm>
            <a:off x="838200" y="6383193"/>
            <a:ext cx="2743200" cy="365125"/>
          </a:xfrm>
          <a:prstGeom prst="rect">
            <a:avLst/>
          </a:prstGeom>
        </p:spPr>
        <p:txBody>
          <a:bodyPr/>
          <a:lstStyle/>
          <a:p>
            <a:fld id="{DAFEB88B-4486-4ED6-B511-1E9297ABCA6F}" type="datetimeFigureOut">
              <a:rPr lang="en-IN" smtClean="0"/>
              <a:t>16-06-2026</a:t>
            </a:fld>
            <a:endParaRPr lang="en-IN"/>
          </a:p>
        </p:txBody>
      </p:sp>
      <p:sp>
        <p:nvSpPr>
          <p:cNvPr id="5" name="Footer Placeholder 4">
            <a:extLst>
              <a:ext uri="{FF2B5EF4-FFF2-40B4-BE49-F238E27FC236}">
                <a16:creationId xmlns:a16="http://schemas.microsoft.com/office/drawing/2014/main" id="{AA840FF5-860F-4EEC-A7C3-BF9EEA4D75BE}"/>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7A4C8115-F156-4BD6-95F7-B4FA351BFD0C}"/>
              </a:ext>
            </a:extLst>
          </p:cNvPr>
          <p:cNvSpPr>
            <a:spLocks noGrp="1"/>
          </p:cNvSpPr>
          <p:nvPr>
            <p:ph type="sldNum" sz="quarter" idx="12"/>
          </p:nvPr>
        </p:nvSpPr>
        <p:spPr>
          <a:xfrm>
            <a:off x="8610600" y="6356350"/>
            <a:ext cx="2743200" cy="365125"/>
          </a:xfrm>
          <a:prstGeom prst="rect">
            <a:avLst/>
          </a:prstGeom>
        </p:spPr>
        <p:txBody>
          <a:bodyPr/>
          <a:lstStyle/>
          <a:p>
            <a:fld id="{178E7087-EB31-493C-9228-D783EC96FF74}" type="slidenum">
              <a:rPr lang="en-IN" smtClean="0"/>
              <a:t>‹#›</a:t>
            </a:fld>
            <a:endParaRPr lang="en-IN"/>
          </a:p>
        </p:txBody>
      </p:sp>
    </p:spTree>
    <p:extLst>
      <p:ext uri="{BB962C8B-B14F-4D97-AF65-F5344CB8AC3E}">
        <p14:creationId xmlns:p14="http://schemas.microsoft.com/office/powerpoint/2010/main" val="2693163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3FD6E-DF23-4153-A8A9-A5F2682372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561AA5-5806-4BCE-9DE2-7B7BF7704672}"/>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60C6F0-FCE7-4F67-AD33-F34971C70CF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699EEF8-B552-44C9-8DE1-09C473B45D81}"/>
              </a:ext>
            </a:extLst>
          </p:cNvPr>
          <p:cNvSpPr>
            <a:spLocks noGrp="1"/>
          </p:cNvSpPr>
          <p:nvPr>
            <p:ph type="dt" sz="half" idx="10"/>
          </p:nvPr>
        </p:nvSpPr>
        <p:spPr>
          <a:xfrm>
            <a:off x="838200" y="6383193"/>
            <a:ext cx="2743200" cy="365125"/>
          </a:xfrm>
          <a:prstGeom prst="rect">
            <a:avLst/>
          </a:prstGeom>
        </p:spPr>
        <p:txBody>
          <a:bodyPr/>
          <a:lstStyle/>
          <a:p>
            <a:fld id="{DAFEB88B-4486-4ED6-B511-1E9297ABCA6F}" type="datetimeFigureOut">
              <a:rPr lang="en-IN" smtClean="0"/>
              <a:t>16-06-2026</a:t>
            </a:fld>
            <a:endParaRPr lang="en-IN"/>
          </a:p>
        </p:txBody>
      </p:sp>
      <p:sp>
        <p:nvSpPr>
          <p:cNvPr id="6" name="Footer Placeholder 5">
            <a:extLst>
              <a:ext uri="{FF2B5EF4-FFF2-40B4-BE49-F238E27FC236}">
                <a16:creationId xmlns:a16="http://schemas.microsoft.com/office/drawing/2014/main" id="{3CA13D2B-33C2-442E-BBAE-6C05B76CAFCC}"/>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55379C82-AD42-441F-B441-F8ED2FE0440B}"/>
              </a:ext>
            </a:extLst>
          </p:cNvPr>
          <p:cNvSpPr>
            <a:spLocks noGrp="1"/>
          </p:cNvSpPr>
          <p:nvPr>
            <p:ph type="sldNum" sz="quarter" idx="12"/>
          </p:nvPr>
        </p:nvSpPr>
        <p:spPr>
          <a:xfrm>
            <a:off x="8610600" y="6356350"/>
            <a:ext cx="2743200" cy="365125"/>
          </a:xfrm>
          <a:prstGeom prst="rect">
            <a:avLst/>
          </a:prstGeom>
        </p:spPr>
        <p:txBody>
          <a:bodyPr/>
          <a:lstStyle/>
          <a:p>
            <a:fld id="{178E7087-EB31-493C-9228-D783EC96FF74}" type="slidenum">
              <a:rPr lang="en-IN" smtClean="0"/>
              <a:t>‹#›</a:t>
            </a:fld>
            <a:endParaRPr lang="en-IN"/>
          </a:p>
        </p:txBody>
      </p:sp>
    </p:spTree>
    <p:extLst>
      <p:ext uri="{BB962C8B-B14F-4D97-AF65-F5344CB8AC3E}">
        <p14:creationId xmlns:p14="http://schemas.microsoft.com/office/powerpoint/2010/main" val="3283336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FDA58-5F7E-440B-BF29-64DDC4F6BD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5C696E-36C7-4423-BABA-65F75758CDB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16BAE0-956E-4E5D-836D-70E2FA81B03A}"/>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1FF3BC5-9528-4C3E-A1B7-5B345AEFE81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1C6604-AD71-4D7E-962E-8CBDA6F044F4}"/>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C07546-EABF-45EC-9EAB-973FF1EEF720}"/>
              </a:ext>
            </a:extLst>
          </p:cNvPr>
          <p:cNvSpPr>
            <a:spLocks noGrp="1"/>
          </p:cNvSpPr>
          <p:nvPr>
            <p:ph type="dt" sz="half" idx="10"/>
          </p:nvPr>
        </p:nvSpPr>
        <p:spPr>
          <a:xfrm>
            <a:off x="838200" y="6383193"/>
            <a:ext cx="2743200" cy="365125"/>
          </a:xfrm>
          <a:prstGeom prst="rect">
            <a:avLst/>
          </a:prstGeom>
        </p:spPr>
        <p:txBody>
          <a:bodyPr/>
          <a:lstStyle/>
          <a:p>
            <a:fld id="{DAFEB88B-4486-4ED6-B511-1E9297ABCA6F}" type="datetimeFigureOut">
              <a:rPr lang="en-IN" smtClean="0"/>
              <a:t>16-06-2026</a:t>
            </a:fld>
            <a:endParaRPr lang="en-IN"/>
          </a:p>
        </p:txBody>
      </p:sp>
      <p:sp>
        <p:nvSpPr>
          <p:cNvPr id="8" name="Footer Placeholder 7">
            <a:extLst>
              <a:ext uri="{FF2B5EF4-FFF2-40B4-BE49-F238E27FC236}">
                <a16:creationId xmlns:a16="http://schemas.microsoft.com/office/drawing/2014/main" id="{911299DC-E99A-44ED-BE65-8380C3193555}"/>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D7462956-5E93-437E-A64E-2D66FB9D148B}"/>
              </a:ext>
            </a:extLst>
          </p:cNvPr>
          <p:cNvSpPr>
            <a:spLocks noGrp="1"/>
          </p:cNvSpPr>
          <p:nvPr>
            <p:ph type="sldNum" sz="quarter" idx="12"/>
          </p:nvPr>
        </p:nvSpPr>
        <p:spPr>
          <a:xfrm>
            <a:off x="8610600" y="6356350"/>
            <a:ext cx="2743200" cy="365125"/>
          </a:xfrm>
          <a:prstGeom prst="rect">
            <a:avLst/>
          </a:prstGeom>
        </p:spPr>
        <p:txBody>
          <a:bodyPr/>
          <a:lstStyle/>
          <a:p>
            <a:fld id="{178E7087-EB31-493C-9228-D783EC96FF74}" type="slidenum">
              <a:rPr lang="en-IN" smtClean="0"/>
              <a:t>‹#›</a:t>
            </a:fld>
            <a:endParaRPr lang="en-IN"/>
          </a:p>
        </p:txBody>
      </p:sp>
    </p:spTree>
    <p:extLst>
      <p:ext uri="{BB962C8B-B14F-4D97-AF65-F5344CB8AC3E}">
        <p14:creationId xmlns:p14="http://schemas.microsoft.com/office/powerpoint/2010/main" val="211330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75004-0929-4DF0-A473-FB08C3D270B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A6F518B-A077-4A99-B3B1-CC285998347A}"/>
              </a:ext>
            </a:extLst>
          </p:cNvPr>
          <p:cNvSpPr>
            <a:spLocks noGrp="1"/>
          </p:cNvSpPr>
          <p:nvPr>
            <p:ph type="dt" sz="half" idx="10"/>
          </p:nvPr>
        </p:nvSpPr>
        <p:spPr>
          <a:xfrm>
            <a:off x="838200" y="6383193"/>
            <a:ext cx="2743200" cy="365125"/>
          </a:xfrm>
          <a:prstGeom prst="rect">
            <a:avLst/>
          </a:prstGeom>
        </p:spPr>
        <p:txBody>
          <a:bodyPr/>
          <a:lstStyle/>
          <a:p>
            <a:fld id="{DAFEB88B-4486-4ED6-B511-1E9297ABCA6F}" type="datetimeFigureOut">
              <a:rPr lang="en-IN" smtClean="0"/>
              <a:t>16-06-2026</a:t>
            </a:fld>
            <a:endParaRPr lang="en-IN"/>
          </a:p>
        </p:txBody>
      </p:sp>
      <p:sp>
        <p:nvSpPr>
          <p:cNvPr id="4" name="Footer Placeholder 3">
            <a:extLst>
              <a:ext uri="{FF2B5EF4-FFF2-40B4-BE49-F238E27FC236}">
                <a16:creationId xmlns:a16="http://schemas.microsoft.com/office/drawing/2014/main" id="{5293120A-75EB-4D6D-A0EA-A6CBEE91E08E}"/>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57D06A0B-74F0-49A1-BEAE-DF1D41EF8D41}"/>
              </a:ext>
            </a:extLst>
          </p:cNvPr>
          <p:cNvSpPr>
            <a:spLocks noGrp="1"/>
          </p:cNvSpPr>
          <p:nvPr>
            <p:ph type="sldNum" sz="quarter" idx="12"/>
          </p:nvPr>
        </p:nvSpPr>
        <p:spPr>
          <a:xfrm>
            <a:off x="8610600" y="6356350"/>
            <a:ext cx="2743200" cy="365125"/>
          </a:xfrm>
          <a:prstGeom prst="rect">
            <a:avLst/>
          </a:prstGeom>
        </p:spPr>
        <p:txBody>
          <a:bodyPr/>
          <a:lstStyle/>
          <a:p>
            <a:fld id="{178E7087-EB31-493C-9228-D783EC96FF74}" type="slidenum">
              <a:rPr lang="en-IN" smtClean="0"/>
              <a:t>‹#›</a:t>
            </a:fld>
            <a:endParaRPr lang="en-IN"/>
          </a:p>
        </p:txBody>
      </p:sp>
    </p:spTree>
    <p:extLst>
      <p:ext uri="{BB962C8B-B14F-4D97-AF65-F5344CB8AC3E}">
        <p14:creationId xmlns:p14="http://schemas.microsoft.com/office/powerpoint/2010/main" val="927016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A321B0-F2B1-4452-8104-B8943237744D}"/>
              </a:ext>
            </a:extLst>
          </p:cNvPr>
          <p:cNvSpPr>
            <a:spLocks noGrp="1"/>
          </p:cNvSpPr>
          <p:nvPr>
            <p:ph type="dt" sz="half" idx="10"/>
          </p:nvPr>
        </p:nvSpPr>
        <p:spPr>
          <a:xfrm>
            <a:off x="838200" y="6383193"/>
            <a:ext cx="2743200" cy="365125"/>
          </a:xfrm>
          <a:prstGeom prst="rect">
            <a:avLst/>
          </a:prstGeom>
        </p:spPr>
        <p:txBody>
          <a:bodyPr/>
          <a:lstStyle/>
          <a:p>
            <a:fld id="{DAFEB88B-4486-4ED6-B511-1E9297ABCA6F}" type="datetimeFigureOut">
              <a:rPr lang="en-IN" smtClean="0"/>
              <a:t>16-06-2026</a:t>
            </a:fld>
            <a:endParaRPr lang="en-IN"/>
          </a:p>
        </p:txBody>
      </p:sp>
      <p:sp>
        <p:nvSpPr>
          <p:cNvPr id="3" name="Footer Placeholder 2">
            <a:extLst>
              <a:ext uri="{FF2B5EF4-FFF2-40B4-BE49-F238E27FC236}">
                <a16:creationId xmlns:a16="http://schemas.microsoft.com/office/drawing/2014/main" id="{0B3A7B43-07F0-496C-8E17-97C4E06B82A8}"/>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4" name="Slide Number Placeholder 3">
            <a:extLst>
              <a:ext uri="{FF2B5EF4-FFF2-40B4-BE49-F238E27FC236}">
                <a16:creationId xmlns:a16="http://schemas.microsoft.com/office/drawing/2014/main" id="{94B32083-5B90-4319-827B-5A52E53989D4}"/>
              </a:ext>
            </a:extLst>
          </p:cNvPr>
          <p:cNvSpPr>
            <a:spLocks noGrp="1"/>
          </p:cNvSpPr>
          <p:nvPr>
            <p:ph type="sldNum" sz="quarter" idx="12"/>
          </p:nvPr>
        </p:nvSpPr>
        <p:spPr>
          <a:xfrm>
            <a:off x="8610600" y="6356350"/>
            <a:ext cx="2743200" cy="365125"/>
          </a:xfrm>
          <a:prstGeom prst="rect">
            <a:avLst/>
          </a:prstGeom>
        </p:spPr>
        <p:txBody>
          <a:bodyPr/>
          <a:lstStyle/>
          <a:p>
            <a:fld id="{178E7087-EB31-493C-9228-D783EC96FF74}" type="slidenum">
              <a:rPr lang="en-IN" smtClean="0"/>
              <a:t>‹#›</a:t>
            </a:fld>
            <a:endParaRPr lang="en-IN"/>
          </a:p>
        </p:txBody>
      </p:sp>
    </p:spTree>
    <p:extLst>
      <p:ext uri="{BB962C8B-B14F-4D97-AF65-F5344CB8AC3E}">
        <p14:creationId xmlns:p14="http://schemas.microsoft.com/office/powerpoint/2010/main" val="5164259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2CD5A-217F-4E8C-9C4E-7CB882BE36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ADDAFD-96B9-4489-98A5-4B7EC4D7AE2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32D6ED3-399D-467C-8A55-83C8A5B5B1A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D534E8-1634-46C5-9B30-D2312563F22E}"/>
              </a:ext>
            </a:extLst>
          </p:cNvPr>
          <p:cNvSpPr>
            <a:spLocks noGrp="1"/>
          </p:cNvSpPr>
          <p:nvPr>
            <p:ph type="dt" sz="half" idx="10"/>
          </p:nvPr>
        </p:nvSpPr>
        <p:spPr>
          <a:xfrm>
            <a:off x="838200" y="6383193"/>
            <a:ext cx="2743200" cy="365125"/>
          </a:xfrm>
          <a:prstGeom prst="rect">
            <a:avLst/>
          </a:prstGeom>
        </p:spPr>
        <p:txBody>
          <a:bodyPr/>
          <a:lstStyle/>
          <a:p>
            <a:fld id="{DAFEB88B-4486-4ED6-B511-1E9297ABCA6F}" type="datetimeFigureOut">
              <a:rPr lang="en-IN" smtClean="0"/>
              <a:t>16-06-2026</a:t>
            </a:fld>
            <a:endParaRPr lang="en-IN"/>
          </a:p>
        </p:txBody>
      </p:sp>
      <p:sp>
        <p:nvSpPr>
          <p:cNvPr id="6" name="Footer Placeholder 5">
            <a:extLst>
              <a:ext uri="{FF2B5EF4-FFF2-40B4-BE49-F238E27FC236}">
                <a16:creationId xmlns:a16="http://schemas.microsoft.com/office/drawing/2014/main" id="{D3938925-37A4-437D-A489-3208DAF53009}"/>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E68C7F24-50ED-4F8E-89F9-2E522D21CEB6}"/>
              </a:ext>
            </a:extLst>
          </p:cNvPr>
          <p:cNvSpPr>
            <a:spLocks noGrp="1"/>
          </p:cNvSpPr>
          <p:nvPr>
            <p:ph type="sldNum" sz="quarter" idx="12"/>
          </p:nvPr>
        </p:nvSpPr>
        <p:spPr>
          <a:xfrm>
            <a:off x="8610600" y="6356350"/>
            <a:ext cx="2743200" cy="365125"/>
          </a:xfrm>
          <a:prstGeom prst="rect">
            <a:avLst/>
          </a:prstGeom>
        </p:spPr>
        <p:txBody>
          <a:bodyPr/>
          <a:lstStyle/>
          <a:p>
            <a:fld id="{178E7087-EB31-493C-9228-D783EC96FF74}" type="slidenum">
              <a:rPr lang="en-IN" smtClean="0"/>
              <a:t>‹#›</a:t>
            </a:fld>
            <a:endParaRPr lang="en-IN"/>
          </a:p>
        </p:txBody>
      </p:sp>
    </p:spTree>
    <p:extLst>
      <p:ext uri="{BB962C8B-B14F-4D97-AF65-F5344CB8AC3E}">
        <p14:creationId xmlns:p14="http://schemas.microsoft.com/office/powerpoint/2010/main" val="868079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8EDC2-DDA7-4436-A566-575AB5519D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07632A-D953-4569-8956-71162FC8120F}"/>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6667BAE-BBBE-4174-9255-3804A816E70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3D1616-67F2-4F85-BBA9-D7B26FD2E66A}"/>
              </a:ext>
            </a:extLst>
          </p:cNvPr>
          <p:cNvSpPr>
            <a:spLocks noGrp="1"/>
          </p:cNvSpPr>
          <p:nvPr>
            <p:ph type="dt" sz="half" idx="10"/>
          </p:nvPr>
        </p:nvSpPr>
        <p:spPr>
          <a:xfrm>
            <a:off x="838200" y="6383193"/>
            <a:ext cx="2743200" cy="365125"/>
          </a:xfrm>
          <a:prstGeom prst="rect">
            <a:avLst/>
          </a:prstGeom>
        </p:spPr>
        <p:txBody>
          <a:bodyPr/>
          <a:lstStyle/>
          <a:p>
            <a:fld id="{DAFEB88B-4486-4ED6-B511-1E9297ABCA6F}" type="datetimeFigureOut">
              <a:rPr lang="en-IN" smtClean="0"/>
              <a:t>16-06-2026</a:t>
            </a:fld>
            <a:endParaRPr lang="en-IN"/>
          </a:p>
        </p:txBody>
      </p:sp>
      <p:sp>
        <p:nvSpPr>
          <p:cNvPr id="6" name="Footer Placeholder 5">
            <a:extLst>
              <a:ext uri="{FF2B5EF4-FFF2-40B4-BE49-F238E27FC236}">
                <a16:creationId xmlns:a16="http://schemas.microsoft.com/office/drawing/2014/main" id="{D6CF3D90-3FC7-4251-84CD-D8494F4F12CB}"/>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F22F60B2-3139-49D4-AE3D-3C3900D95CD7}"/>
              </a:ext>
            </a:extLst>
          </p:cNvPr>
          <p:cNvSpPr>
            <a:spLocks noGrp="1"/>
          </p:cNvSpPr>
          <p:nvPr>
            <p:ph type="sldNum" sz="quarter" idx="12"/>
          </p:nvPr>
        </p:nvSpPr>
        <p:spPr>
          <a:xfrm>
            <a:off x="8610600" y="6356350"/>
            <a:ext cx="2743200" cy="365125"/>
          </a:xfrm>
          <a:prstGeom prst="rect">
            <a:avLst/>
          </a:prstGeom>
        </p:spPr>
        <p:txBody>
          <a:bodyPr/>
          <a:lstStyle/>
          <a:p>
            <a:fld id="{178E7087-EB31-493C-9228-D783EC96FF74}" type="slidenum">
              <a:rPr lang="en-IN" smtClean="0"/>
              <a:t>‹#›</a:t>
            </a:fld>
            <a:endParaRPr lang="en-IN"/>
          </a:p>
        </p:txBody>
      </p:sp>
    </p:spTree>
    <p:extLst>
      <p:ext uri="{BB962C8B-B14F-4D97-AF65-F5344CB8AC3E}">
        <p14:creationId xmlns:p14="http://schemas.microsoft.com/office/powerpoint/2010/main" val="4264089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7F25A-5B91-42B3-BCA4-ECCA780120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D0E301-3F2D-498C-A613-C8995A5FA9F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A4A72D-CB27-4F32-A523-12DFBD9C06FF}"/>
              </a:ext>
            </a:extLst>
          </p:cNvPr>
          <p:cNvSpPr>
            <a:spLocks noGrp="1"/>
          </p:cNvSpPr>
          <p:nvPr>
            <p:ph type="dt" sz="half" idx="10"/>
          </p:nvPr>
        </p:nvSpPr>
        <p:spPr>
          <a:xfrm>
            <a:off x="838200" y="6383193"/>
            <a:ext cx="2743200" cy="365125"/>
          </a:xfrm>
          <a:prstGeom prst="rect">
            <a:avLst/>
          </a:prstGeom>
        </p:spPr>
        <p:txBody>
          <a:bodyPr/>
          <a:lstStyle/>
          <a:p>
            <a:fld id="{DAFEB88B-4486-4ED6-B511-1E9297ABCA6F}" type="datetimeFigureOut">
              <a:rPr lang="en-IN" smtClean="0"/>
              <a:t>16-06-2026</a:t>
            </a:fld>
            <a:endParaRPr lang="en-IN"/>
          </a:p>
        </p:txBody>
      </p:sp>
      <p:sp>
        <p:nvSpPr>
          <p:cNvPr id="5" name="Footer Placeholder 4">
            <a:extLst>
              <a:ext uri="{FF2B5EF4-FFF2-40B4-BE49-F238E27FC236}">
                <a16:creationId xmlns:a16="http://schemas.microsoft.com/office/drawing/2014/main" id="{FC8AD97E-E376-4C15-9222-135E27B6F25E}"/>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055BB9C0-0BF8-4AA0-A763-8324773864BA}"/>
              </a:ext>
            </a:extLst>
          </p:cNvPr>
          <p:cNvSpPr>
            <a:spLocks noGrp="1"/>
          </p:cNvSpPr>
          <p:nvPr>
            <p:ph type="sldNum" sz="quarter" idx="12"/>
          </p:nvPr>
        </p:nvSpPr>
        <p:spPr>
          <a:xfrm>
            <a:off x="8610600" y="6356350"/>
            <a:ext cx="2743200" cy="365125"/>
          </a:xfrm>
          <a:prstGeom prst="rect">
            <a:avLst/>
          </a:prstGeom>
        </p:spPr>
        <p:txBody>
          <a:bodyPr/>
          <a:lstStyle/>
          <a:p>
            <a:fld id="{178E7087-EB31-493C-9228-D783EC96FF74}" type="slidenum">
              <a:rPr lang="en-IN" smtClean="0"/>
              <a:t>‹#›</a:t>
            </a:fld>
            <a:endParaRPr lang="en-IN"/>
          </a:p>
        </p:txBody>
      </p:sp>
    </p:spTree>
    <p:extLst>
      <p:ext uri="{BB962C8B-B14F-4D97-AF65-F5344CB8AC3E}">
        <p14:creationId xmlns:p14="http://schemas.microsoft.com/office/powerpoint/2010/main" val="3800738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9FEEEA-C6BF-422B-ACC1-163C0950B4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E5E4BB-098D-4A61-B55A-37ED9E540430}"/>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F365AD-DCCD-41F7-AE9D-72805AEFC830}"/>
              </a:ext>
            </a:extLst>
          </p:cNvPr>
          <p:cNvSpPr>
            <a:spLocks noGrp="1"/>
          </p:cNvSpPr>
          <p:nvPr>
            <p:ph type="dt" sz="half" idx="10"/>
          </p:nvPr>
        </p:nvSpPr>
        <p:spPr>
          <a:xfrm>
            <a:off x="838200" y="6383193"/>
            <a:ext cx="2743200" cy="365125"/>
          </a:xfrm>
          <a:prstGeom prst="rect">
            <a:avLst/>
          </a:prstGeom>
        </p:spPr>
        <p:txBody>
          <a:bodyPr/>
          <a:lstStyle/>
          <a:p>
            <a:fld id="{DAFEB88B-4486-4ED6-B511-1E9297ABCA6F}" type="datetimeFigureOut">
              <a:rPr lang="en-IN" smtClean="0"/>
              <a:t>16-06-2026</a:t>
            </a:fld>
            <a:endParaRPr lang="en-IN"/>
          </a:p>
        </p:txBody>
      </p:sp>
      <p:sp>
        <p:nvSpPr>
          <p:cNvPr id="5" name="Footer Placeholder 4">
            <a:extLst>
              <a:ext uri="{FF2B5EF4-FFF2-40B4-BE49-F238E27FC236}">
                <a16:creationId xmlns:a16="http://schemas.microsoft.com/office/drawing/2014/main" id="{8D3F196A-7CE3-440C-97AE-4DBB7F7A675D}"/>
              </a:ext>
            </a:extLst>
          </p:cNvPr>
          <p:cNvSpPr>
            <a:spLocks noGrp="1"/>
          </p:cNvSpPr>
          <p:nvPr>
            <p:ph type="ftr" sz="quarter" idx="11"/>
          </p:nvPr>
        </p:nvSpPr>
        <p:spPr>
          <a:xfrm>
            <a:off x="4038600" y="6356350"/>
            <a:ext cx="4114800" cy="365125"/>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98CE2F08-A473-4AC3-B63F-19A398D867E7}"/>
              </a:ext>
            </a:extLst>
          </p:cNvPr>
          <p:cNvSpPr>
            <a:spLocks noGrp="1"/>
          </p:cNvSpPr>
          <p:nvPr>
            <p:ph type="sldNum" sz="quarter" idx="12"/>
          </p:nvPr>
        </p:nvSpPr>
        <p:spPr>
          <a:xfrm>
            <a:off x="8610600" y="6356350"/>
            <a:ext cx="2743200" cy="365125"/>
          </a:xfrm>
          <a:prstGeom prst="rect">
            <a:avLst/>
          </a:prstGeom>
        </p:spPr>
        <p:txBody>
          <a:bodyPr/>
          <a:lstStyle/>
          <a:p>
            <a:fld id="{178E7087-EB31-493C-9228-D783EC96FF74}" type="slidenum">
              <a:rPr lang="en-IN" smtClean="0"/>
              <a:t>‹#›</a:t>
            </a:fld>
            <a:endParaRPr lang="en-IN"/>
          </a:p>
        </p:txBody>
      </p:sp>
    </p:spTree>
    <p:extLst>
      <p:ext uri="{BB962C8B-B14F-4D97-AF65-F5344CB8AC3E}">
        <p14:creationId xmlns:p14="http://schemas.microsoft.com/office/powerpoint/2010/main" val="1403768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A6847C-88FC-463D-8767-96B714AC9DEF}"/>
              </a:ext>
            </a:extLst>
          </p:cNvPr>
          <p:cNvSpPr>
            <a:spLocks noGrp="1"/>
          </p:cNvSpPr>
          <p:nvPr>
            <p:ph type="title"/>
          </p:nvPr>
        </p:nvSpPr>
        <p:spPr>
          <a:xfrm>
            <a:off x="-12000" y="102434"/>
            <a:ext cx="12204000" cy="900000"/>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7" name="Rectangle 6">
            <a:extLst>
              <a:ext uri="{FF2B5EF4-FFF2-40B4-BE49-F238E27FC236}">
                <a16:creationId xmlns:a16="http://schemas.microsoft.com/office/drawing/2014/main" id="{F5098469-358C-41A0-909C-45E98660EC19}"/>
              </a:ext>
            </a:extLst>
          </p:cNvPr>
          <p:cNvSpPr/>
          <p:nvPr userDrawn="1"/>
        </p:nvSpPr>
        <p:spPr>
          <a:xfrm>
            <a:off x="0" y="-1"/>
            <a:ext cx="12204000" cy="79200"/>
          </a:xfrm>
          <a:prstGeom prst="rect">
            <a:avLst/>
          </a:prstGeom>
          <a:solidFill>
            <a:srgbClr val="1F29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3CC3A948-269A-4E05-A821-577878F667DF}"/>
              </a:ext>
            </a:extLst>
          </p:cNvPr>
          <p:cNvCxnSpPr/>
          <p:nvPr userDrawn="1"/>
        </p:nvCxnSpPr>
        <p:spPr>
          <a:xfrm>
            <a:off x="-24000" y="6664036"/>
            <a:ext cx="12240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2875600"/>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2800" kern="1200">
          <a:solidFill>
            <a:srgbClr val="1F2937"/>
          </a:solidFill>
          <a:latin typeface="Segoe UI Semibold" panose="020B0702040204020203" pitchFamily="34" charset="0"/>
          <a:ea typeface="+mj-ea"/>
          <a:cs typeface="Segoe UI Semibold" panose="020B07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92AB587-44D4-4A32-871A-5B09E6345B46}"/>
              </a:ext>
            </a:extLst>
          </p:cNvPr>
          <p:cNvSpPr>
            <a:spLocks noGrp="1" noChangeArrowheads="1"/>
          </p:cNvSpPr>
          <p:nvPr>
            <p:ph type="title"/>
          </p:nvPr>
        </p:nvSpPr>
        <p:spPr bwMode="auto">
          <a:xfrm>
            <a:off x="15888" y="99519"/>
            <a:ext cx="12176111"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Segoe UI" panose="020B0502040204020203" pitchFamily="34" charset="0"/>
                <a:ea typeface="Segoe UI Black" panose="020B0A02040204020203" pitchFamily="34" charset="0"/>
                <a:cs typeface="Segoe UI" panose="020B0502040204020203" pitchFamily="34" charset="0"/>
              </a:rPr>
              <a:t>Project Context &amp; Business Problem</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800" i="0" u="none" strike="noStrike" cap="none" normalizeH="0" baseline="0" dirty="0">
              <a:ln>
                <a:noFill/>
              </a:ln>
              <a:solidFill>
                <a:schemeClr val="tx1"/>
              </a:solidFill>
              <a:effectLst/>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2" name="Rectangle 1">
            <a:extLst>
              <a:ext uri="{FF2B5EF4-FFF2-40B4-BE49-F238E27FC236}">
                <a16:creationId xmlns:a16="http://schemas.microsoft.com/office/drawing/2014/main" id="{F37622A7-C2DF-488B-93F7-9BE3F00DCF67}"/>
              </a:ext>
            </a:extLst>
          </p:cNvPr>
          <p:cNvSpPr/>
          <p:nvPr/>
        </p:nvSpPr>
        <p:spPr>
          <a:xfrm>
            <a:off x="202167" y="1211440"/>
            <a:ext cx="5616142" cy="3672000"/>
          </a:xfrm>
          <a:prstGeom prst="rect">
            <a:avLst/>
          </a:prstGeom>
          <a:solidFill>
            <a:schemeClr val="bg1"/>
          </a:solid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Rectangle 2">
            <a:extLst>
              <a:ext uri="{FF2B5EF4-FFF2-40B4-BE49-F238E27FC236}">
                <a16:creationId xmlns:a16="http://schemas.microsoft.com/office/drawing/2014/main" id="{352BA086-3120-405F-83DB-F0DE3098BC64}"/>
              </a:ext>
            </a:extLst>
          </p:cNvPr>
          <p:cNvSpPr/>
          <p:nvPr/>
        </p:nvSpPr>
        <p:spPr>
          <a:xfrm>
            <a:off x="6221563" y="1212092"/>
            <a:ext cx="5616142" cy="3672000"/>
          </a:xfrm>
          <a:prstGeom prst="rect">
            <a:avLst/>
          </a:prstGeom>
          <a:solidFill>
            <a:schemeClr val="bg1"/>
          </a:solid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Overlap &amp;</a:t>
            </a:r>
            <a:br>
              <a:rPr lang="en-IN" dirty="0"/>
            </a:br>
            <a:r>
              <a:rPr lang="en-IN" dirty="0"/>
              <a:t>Attribution Risk</a:t>
            </a:r>
          </a:p>
        </p:txBody>
      </p:sp>
      <p:sp>
        <p:nvSpPr>
          <p:cNvPr id="5" name="Rectangle 4">
            <a:extLst>
              <a:ext uri="{FF2B5EF4-FFF2-40B4-BE49-F238E27FC236}">
                <a16:creationId xmlns:a16="http://schemas.microsoft.com/office/drawing/2014/main" id="{94FD6B1F-A25C-43C6-B507-6F746CBC0650}"/>
              </a:ext>
            </a:extLst>
          </p:cNvPr>
          <p:cNvSpPr/>
          <p:nvPr/>
        </p:nvSpPr>
        <p:spPr>
          <a:xfrm>
            <a:off x="445577" y="5103461"/>
            <a:ext cx="3240000" cy="1404000"/>
          </a:xfrm>
          <a:prstGeom prst="rect">
            <a:avLst/>
          </a:prstGeom>
          <a:solidFill>
            <a:schemeClr val="bg1"/>
          </a:solid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067710E6-1428-4F49-B532-AC0F4FB014A0}"/>
              </a:ext>
            </a:extLst>
          </p:cNvPr>
          <p:cNvSpPr/>
          <p:nvPr/>
        </p:nvSpPr>
        <p:spPr>
          <a:xfrm>
            <a:off x="4543058" y="5103461"/>
            <a:ext cx="3240000" cy="1404000"/>
          </a:xfrm>
          <a:prstGeom prst="rect">
            <a:avLst/>
          </a:prstGeom>
          <a:solidFill>
            <a:schemeClr val="bg1"/>
          </a:solid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6345C985-4450-4033-B017-5AC606867436}"/>
              </a:ext>
            </a:extLst>
          </p:cNvPr>
          <p:cNvSpPr/>
          <p:nvPr/>
        </p:nvSpPr>
        <p:spPr>
          <a:xfrm>
            <a:off x="8640538" y="5103461"/>
            <a:ext cx="3240000" cy="1404000"/>
          </a:xfrm>
          <a:prstGeom prst="rect">
            <a:avLst/>
          </a:prstGeom>
          <a:solidFill>
            <a:schemeClr val="bg1"/>
          </a:solidFill>
          <a:ln>
            <a:noFill/>
          </a:ln>
          <a:effectLst>
            <a:outerShdw blurRad="50800" dist="38100" dir="2700000" algn="tl" rotWithShape="0">
              <a:prstClr val="black">
                <a:alpha val="40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9CEC80F8-AD7E-43FF-8ACF-99B533D850CC}"/>
              </a:ext>
            </a:extLst>
          </p:cNvPr>
          <p:cNvSpPr txBox="1"/>
          <p:nvPr/>
        </p:nvSpPr>
        <p:spPr>
          <a:xfrm>
            <a:off x="7788883" y="1223884"/>
            <a:ext cx="2350212" cy="307777"/>
          </a:xfrm>
          <a:prstGeom prst="rect">
            <a:avLst/>
          </a:prstGeom>
          <a:noFill/>
        </p:spPr>
        <p:txBody>
          <a:bodyPr wrap="square">
            <a:spAutoFit/>
          </a:bodyPr>
          <a:lstStyle/>
          <a:p>
            <a:r>
              <a:rPr lang="en-US" sz="1400" dirty="0">
                <a:solidFill>
                  <a:srgbClr val="1F2937"/>
                </a:solidFill>
                <a:latin typeface="Segoe UI Semibold" panose="020B0702040204020203" pitchFamily="34" charset="0"/>
                <a:cs typeface="Segoe UI Semibold" panose="020B0702040204020203" pitchFamily="34" charset="0"/>
              </a:rPr>
              <a:t>Where the Problem Occurs</a:t>
            </a:r>
            <a:endParaRPr lang="en-IN" sz="1400" dirty="0">
              <a:solidFill>
                <a:srgbClr val="1F2937"/>
              </a:solidFill>
              <a:latin typeface="Segoe UI Semibold" panose="020B0702040204020203" pitchFamily="34" charset="0"/>
              <a:cs typeface="Segoe UI Semibold" panose="020B0702040204020203" pitchFamily="34" charset="0"/>
            </a:endParaRPr>
          </a:p>
        </p:txBody>
      </p:sp>
      <p:sp>
        <p:nvSpPr>
          <p:cNvPr id="19" name="Rectangle 7">
            <a:extLst>
              <a:ext uri="{FF2B5EF4-FFF2-40B4-BE49-F238E27FC236}">
                <a16:creationId xmlns:a16="http://schemas.microsoft.com/office/drawing/2014/main" id="{3F64F11B-6A40-4538-B70B-7B969D6EF3E4}"/>
              </a:ext>
            </a:extLst>
          </p:cNvPr>
          <p:cNvSpPr>
            <a:spLocks noChangeArrowheads="1"/>
          </p:cNvSpPr>
          <p:nvPr/>
        </p:nvSpPr>
        <p:spPr bwMode="auto">
          <a:xfrm>
            <a:off x="15888" y="594447"/>
            <a:ext cx="644296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6B7280"/>
                </a:solidFill>
                <a:effectLst/>
                <a:latin typeface="Segoe UI Semibold" panose="020B0702040204020203" pitchFamily="34" charset="0"/>
                <a:cs typeface="Segoe UI Semibold" panose="020B0702040204020203" pitchFamily="34" charset="0"/>
              </a:rPr>
              <a:t>Outbound Funnel Intelligence: Uncoordinated Multi-Touch Outreach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9">
            <a:extLst>
              <a:ext uri="{FF2B5EF4-FFF2-40B4-BE49-F238E27FC236}">
                <a16:creationId xmlns:a16="http://schemas.microsoft.com/office/drawing/2014/main" id="{48FD332F-C5FC-45D9-846F-01F7F32FF620}"/>
              </a:ext>
            </a:extLst>
          </p:cNvPr>
          <p:cNvSpPr>
            <a:spLocks noChangeArrowheads="1"/>
          </p:cNvSpPr>
          <p:nvPr/>
        </p:nvSpPr>
        <p:spPr bwMode="auto">
          <a:xfrm>
            <a:off x="270547" y="1335671"/>
            <a:ext cx="2496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1F2937"/>
                </a:solidFill>
                <a:effectLst/>
                <a:latin typeface="Segoe UI Semibold" panose="020B0702040204020203" pitchFamily="34" charset="0"/>
                <a:cs typeface="Segoe UI Semibold" panose="020B0702040204020203" pitchFamily="34" charset="0"/>
              </a:rPr>
              <a:t>Business Problem Statement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10">
            <a:extLst>
              <a:ext uri="{FF2B5EF4-FFF2-40B4-BE49-F238E27FC236}">
                <a16:creationId xmlns:a16="http://schemas.microsoft.com/office/drawing/2014/main" id="{AB675568-FC02-40E6-A5BB-427FE10AE67D}"/>
              </a:ext>
            </a:extLst>
          </p:cNvPr>
          <p:cNvSpPr>
            <a:spLocks noChangeArrowheads="1"/>
          </p:cNvSpPr>
          <p:nvPr/>
        </p:nvSpPr>
        <p:spPr bwMode="auto">
          <a:xfrm>
            <a:off x="270547" y="3228965"/>
            <a:ext cx="19713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1F2937"/>
                </a:solidFill>
                <a:effectLst/>
                <a:latin typeface="Segoe UI Semibold" panose="020B0702040204020203" pitchFamily="34" charset="0"/>
                <a:cs typeface="Segoe UI Semibold" panose="020B0702040204020203" pitchFamily="34" charset="0"/>
              </a:rPr>
              <a:t>Project Objective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23" name="Rectangle 11">
            <a:extLst>
              <a:ext uri="{FF2B5EF4-FFF2-40B4-BE49-F238E27FC236}">
                <a16:creationId xmlns:a16="http://schemas.microsoft.com/office/drawing/2014/main" id="{090EBB92-ABC8-474E-9F49-8A8C9B979E25}"/>
              </a:ext>
            </a:extLst>
          </p:cNvPr>
          <p:cNvSpPr>
            <a:spLocks noChangeArrowheads="1"/>
          </p:cNvSpPr>
          <p:nvPr/>
        </p:nvSpPr>
        <p:spPr bwMode="auto">
          <a:xfrm>
            <a:off x="370668" y="1793243"/>
            <a:ext cx="477877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en-US" altLang="en-US" sz="1200" b="0" i="0" u="none" strike="noStrike" cap="none" normalizeH="0" baseline="0" dirty="0">
                <a:ln>
                  <a:noFill/>
                </a:ln>
                <a:solidFill>
                  <a:srgbClr val="1F2937"/>
                </a:solidFill>
                <a:effectLst/>
                <a:latin typeface="Segoe UI" panose="020B0502040204020203" pitchFamily="34" charset="0"/>
                <a:cs typeface="Segoe UI" panose="020B0502040204020203" pitchFamily="34" charset="0"/>
              </a:rPr>
              <a:t>Outbound sales teams frequently engage the same prospect across multiple campaigns, senders, and touchpoints. While this increases outreach coverage, it also creates sender overlap, ownership conflicts, CRM duplication challenges, and unreliable funnel attribution.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374151"/>
              </a:solidFill>
              <a:effectLst/>
              <a:latin typeface="Segoe UI" panose="020B0502040204020203" pitchFamily="34" charset="0"/>
              <a:cs typeface="Segoe UI" panose="020B0502040204020203" pitchFamily="34" charset="0"/>
            </a:endParaRPr>
          </a:p>
        </p:txBody>
      </p:sp>
      <p:sp>
        <p:nvSpPr>
          <p:cNvPr id="24" name="Rectangle 12">
            <a:extLst>
              <a:ext uri="{FF2B5EF4-FFF2-40B4-BE49-F238E27FC236}">
                <a16:creationId xmlns:a16="http://schemas.microsoft.com/office/drawing/2014/main" id="{ABA39905-5303-41A9-B771-1DA2ADEF8446}"/>
              </a:ext>
            </a:extLst>
          </p:cNvPr>
          <p:cNvSpPr>
            <a:spLocks noChangeArrowheads="1"/>
          </p:cNvSpPr>
          <p:nvPr/>
        </p:nvSpPr>
        <p:spPr bwMode="auto">
          <a:xfrm>
            <a:off x="342577" y="3591381"/>
            <a:ext cx="453747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en-US" altLang="en-US" sz="1200" i="0" u="none" strike="noStrike" cap="none" normalizeH="0" baseline="0" dirty="0">
                <a:ln>
                  <a:noFill/>
                </a:ln>
                <a:solidFill>
                  <a:srgbClr val="202937"/>
                </a:solidFill>
                <a:effectLst/>
                <a:latin typeface="Segoe UI" panose="020B0502040204020203" pitchFamily="34" charset="0"/>
                <a:cs typeface="Segoe UI" panose="020B0502040204020203" pitchFamily="34" charset="0"/>
              </a:rPr>
              <a:t>Develop a journey-level analytical framework to measure funnel performance, quantify sender overlap, assess CRM data quality, and identify opportunities to improve outreach efficiency and reporting reliability.</a:t>
            </a:r>
          </a:p>
        </p:txBody>
      </p:sp>
      <p:sp>
        <p:nvSpPr>
          <p:cNvPr id="32" name="Rectangle: Rounded Corners 31">
            <a:extLst>
              <a:ext uri="{FF2B5EF4-FFF2-40B4-BE49-F238E27FC236}">
                <a16:creationId xmlns:a16="http://schemas.microsoft.com/office/drawing/2014/main" id="{C197B0E9-94D5-472C-9E9C-19D44A443678}"/>
              </a:ext>
            </a:extLst>
          </p:cNvPr>
          <p:cNvSpPr/>
          <p:nvPr/>
        </p:nvSpPr>
        <p:spPr>
          <a:xfrm>
            <a:off x="8937317" y="1761462"/>
            <a:ext cx="1260000" cy="1440000"/>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3" name="Rectangle: Rounded Corners 32">
            <a:extLst>
              <a:ext uri="{FF2B5EF4-FFF2-40B4-BE49-F238E27FC236}">
                <a16:creationId xmlns:a16="http://schemas.microsoft.com/office/drawing/2014/main" id="{0F9C42D9-D2D1-45ED-88D1-DF99E22F4FC2}"/>
              </a:ext>
            </a:extLst>
          </p:cNvPr>
          <p:cNvSpPr/>
          <p:nvPr/>
        </p:nvSpPr>
        <p:spPr>
          <a:xfrm>
            <a:off x="10437014" y="1788965"/>
            <a:ext cx="1260000" cy="1440000"/>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Rectangle: Rounded Corners 37">
            <a:extLst>
              <a:ext uri="{FF2B5EF4-FFF2-40B4-BE49-F238E27FC236}">
                <a16:creationId xmlns:a16="http://schemas.microsoft.com/office/drawing/2014/main" id="{F9E735E1-D534-49B2-A7E2-D3E9897CF91C}"/>
              </a:ext>
            </a:extLst>
          </p:cNvPr>
          <p:cNvSpPr/>
          <p:nvPr/>
        </p:nvSpPr>
        <p:spPr>
          <a:xfrm>
            <a:off x="7430629" y="1761462"/>
            <a:ext cx="1260000" cy="1440000"/>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9" name="Rectangle: Rounded Corners 38">
            <a:extLst>
              <a:ext uri="{FF2B5EF4-FFF2-40B4-BE49-F238E27FC236}">
                <a16:creationId xmlns:a16="http://schemas.microsoft.com/office/drawing/2014/main" id="{B90604FA-2E51-40AB-A2A6-0FEB36382CEB}"/>
              </a:ext>
            </a:extLst>
          </p:cNvPr>
          <p:cNvSpPr/>
          <p:nvPr/>
        </p:nvSpPr>
        <p:spPr>
          <a:xfrm>
            <a:off x="5941653" y="1707105"/>
            <a:ext cx="1260000" cy="1440000"/>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3" name="Rectangle 13">
            <a:extLst>
              <a:ext uri="{FF2B5EF4-FFF2-40B4-BE49-F238E27FC236}">
                <a16:creationId xmlns:a16="http://schemas.microsoft.com/office/drawing/2014/main" id="{BCAEDCAA-BF61-4279-A6F0-A47C5A30084C}"/>
              </a:ext>
            </a:extLst>
          </p:cNvPr>
          <p:cNvSpPr>
            <a:spLocks noChangeArrowheads="1"/>
          </p:cNvSpPr>
          <p:nvPr/>
        </p:nvSpPr>
        <p:spPr bwMode="auto">
          <a:xfrm>
            <a:off x="6221563" y="2143453"/>
            <a:ext cx="53457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Lead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 name="TextBox 48">
            <a:extLst>
              <a:ext uri="{FF2B5EF4-FFF2-40B4-BE49-F238E27FC236}">
                <a16:creationId xmlns:a16="http://schemas.microsoft.com/office/drawing/2014/main" id="{928F8E2E-A0BC-4D11-9ECB-376E16C22FA7}"/>
              </a:ext>
            </a:extLst>
          </p:cNvPr>
          <p:cNvSpPr txBox="1"/>
          <p:nvPr/>
        </p:nvSpPr>
        <p:spPr>
          <a:xfrm>
            <a:off x="7575400" y="2120932"/>
            <a:ext cx="903121" cy="430887"/>
          </a:xfrm>
          <a:prstGeom prst="rect">
            <a:avLst/>
          </a:prstGeom>
          <a:noFill/>
        </p:spPr>
        <p:txBody>
          <a:bodyPr wrap="square">
            <a:spAutoFit/>
          </a:bodyPr>
          <a:lstStyle/>
          <a:p>
            <a:pPr algn="ctr"/>
            <a:r>
              <a:rPr lang="en-IN" sz="1100" b="1" dirty="0">
                <a:latin typeface="Segoe UI Semibold" panose="020B0702040204020203" pitchFamily="34" charset="0"/>
                <a:cs typeface="Segoe UI Semibold" panose="020B0702040204020203" pitchFamily="34" charset="0"/>
              </a:rPr>
              <a:t>Multiple</a:t>
            </a:r>
            <a:br>
              <a:rPr lang="en-IN" sz="1100" b="1" dirty="0">
                <a:latin typeface="Segoe UI Semibold" panose="020B0702040204020203" pitchFamily="34" charset="0"/>
                <a:cs typeface="Segoe UI Semibold" panose="020B0702040204020203" pitchFamily="34" charset="0"/>
              </a:rPr>
            </a:br>
            <a:r>
              <a:rPr lang="en-IN" sz="1100" b="1" dirty="0">
                <a:latin typeface="Segoe UI Semibold" panose="020B0702040204020203" pitchFamily="34" charset="0"/>
                <a:cs typeface="Segoe UI Semibold" panose="020B0702040204020203" pitchFamily="34" charset="0"/>
              </a:rPr>
              <a:t>Senders</a:t>
            </a:r>
          </a:p>
        </p:txBody>
      </p:sp>
      <p:sp>
        <p:nvSpPr>
          <p:cNvPr id="51" name="TextBox 50">
            <a:extLst>
              <a:ext uri="{FF2B5EF4-FFF2-40B4-BE49-F238E27FC236}">
                <a16:creationId xmlns:a16="http://schemas.microsoft.com/office/drawing/2014/main" id="{EB6EAA08-F374-47EF-BCAD-A2FF81DF6CF9}"/>
              </a:ext>
            </a:extLst>
          </p:cNvPr>
          <p:cNvSpPr txBox="1"/>
          <p:nvPr/>
        </p:nvSpPr>
        <p:spPr>
          <a:xfrm>
            <a:off x="8898739" y="2147737"/>
            <a:ext cx="1221108" cy="430887"/>
          </a:xfrm>
          <a:prstGeom prst="rect">
            <a:avLst/>
          </a:prstGeom>
          <a:noFill/>
        </p:spPr>
        <p:txBody>
          <a:bodyPr wrap="square">
            <a:spAutoFit/>
          </a:bodyPr>
          <a:lstStyle/>
          <a:p>
            <a:pPr algn="ctr"/>
            <a:r>
              <a:rPr lang="en-IN" sz="1100" dirty="0">
                <a:latin typeface="Segoe UI Semibold" panose="020B0702040204020203" pitchFamily="34" charset="0"/>
                <a:cs typeface="Segoe UI Semibold" panose="020B0702040204020203" pitchFamily="34" charset="0"/>
              </a:rPr>
              <a:t>Overlap &amp;</a:t>
            </a:r>
            <a:br>
              <a:rPr lang="en-IN" sz="1100" dirty="0">
                <a:latin typeface="Segoe UI Semibold" panose="020B0702040204020203" pitchFamily="34" charset="0"/>
                <a:cs typeface="Segoe UI Semibold" panose="020B0702040204020203" pitchFamily="34" charset="0"/>
              </a:rPr>
            </a:br>
            <a:r>
              <a:rPr lang="en-IN" sz="1100" dirty="0">
                <a:latin typeface="Segoe UI Semibold" panose="020B0702040204020203" pitchFamily="34" charset="0"/>
                <a:cs typeface="Segoe UI Semibold" panose="020B0702040204020203" pitchFamily="34" charset="0"/>
              </a:rPr>
              <a:t>Attribution Risk</a:t>
            </a:r>
          </a:p>
        </p:txBody>
      </p:sp>
      <p:sp>
        <p:nvSpPr>
          <p:cNvPr id="55" name="TextBox 54">
            <a:extLst>
              <a:ext uri="{FF2B5EF4-FFF2-40B4-BE49-F238E27FC236}">
                <a16:creationId xmlns:a16="http://schemas.microsoft.com/office/drawing/2014/main" id="{C7C7784E-6FD0-479F-9FA9-06C03CCAB666}"/>
              </a:ext>
            </a:extLst>
          </p:cNvPr>
          <p:cNvSpPr txBox="1"/>
          <p:nvPr/>
        </p:nvSpPr>
        <p:spPr>
          <a:xfrm>
            <a:off x="10533836" y="2127023"/>
            <a:ext cx="1066356" cy="600164"/>
          </a:xfrm>
          <a:prstGeom prst="rect">
            <a:avLst/>
          </a:prstGeom>
          <a:noFill/>
        </p:spPr>
        <p:txBody>
          <a:bodyPr wrap="square">
            <a:spAutoFit/>
          </a:bodyPr>
          <a:lstStyle/>
          <a:p>
            <a:pPr algn="ctr">
              <a:tabLst>
                <a:tab pos="363538" algn="l"/>
              </a:tabLst>
            </a:pPr>
            <a:r>
              <a:rPr lang="en-IN" sz="1100" b="1" dirty="0">
                <a:latin typeface="Segoe UI Semibold" panose="020B0702040204020203" pitchFamily="34" charset="0"/>
                <a:cs typeface="Segoe UI Semibold" panose="020B0702040204020203" pitchFamily="34" charset="0"/>
              </a:rPr>
              <a:t>Distorted</a:t>
            </a:r>
            <a:br>
              <a:rPr lang="en-IN" sz="1100" b="1" dirty="0">
                <a:latin typeface="Segoe UI Semibold" panose="020B0702040204020203" pitchFamily="34" charset="0"/>
                <a:cs typeface="Segoe UI Semibold" panose="020B0702040204020203" pitchFamily="34" charset="0"/>
              </a:rPr>
            </a:br>
            <a:r>
              <a:rPr lang="en-IN" sz="1100" b="1" dirty="0">
                <a:latin typeface="Segoe UI Semibold" panose="020B0702040204020203" pitchFamily="34" charset="0"/>
                <a:cs typeface="Segoe UI Semibold" panose="020B0702040204020203" pitchFamily="34" charset="0"/>
              </a:rPr>
              <a:t>Funnel Metrics</a:t>
            </a:r>
          </a:p>
        </p:txBody>
      </p:sp>
      <p:sp>
        <p:nvSpPr>
          <p:cNvPr id="62" name="Isosceles Triangle 61">
            <a:extLst>
              <a:ext uri="{FF2B5EF4-FFF2-40B4-BE49-F238E27FC236}">
                <a16:creationId xmlns:a16="http://schemas.microsoft.com/office/drawing/2014/main" id="{2AADAD81-0C4E-44CB-915C-B82E35EF4F97}"/>
              </a:ext>
            </a:extLst>
          </p:cNvPr>
          <p:cNvSpPr/>
          <p:nvPr/>
        </p:nvSpPr>
        <p:spPr>
          <a:xfrm rot="5400000">
            <a:off x="7248350" y="2248138"/>
            <a:ext cx="211234" cy="176476"/>
          </a:xfrm>
          <a:prstGeom prst="triangle">
            <a:avLst/>
          </a:prstGeom>
          <a:solidFill>
            <a:srgbClr val="4F8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Isosceles Triangle 62">
            <a:extLst>
              <a:ext uri="{FF2B5EF4-FFF2-40B4-BE49-F238E27FC236}">
                <a16:creationId xmlns:a16="http://schemas.microsoft.com/office/drawing/2014/main" id="{CC91B29B-9CF4-4AED-B013-62304D02FEA6}"/>
              </a:ext>
            </a:extLst>
          </p:cNvPr>
          <p:cNvSpPr/>
          <p:nvPr/>
        </p:nvSpPr>
        <p:spPr>
          <a:xfrm rot="5400000">
            <a:off x="10243159" y="2322981"/>
            <a:ext cx="211234" cy="176476"/>
          </a:xfrm>
          <a:prstGeom prst="triangle">
            <a:avLst/>
          </a:prstGeom>
          <a:solidFill>
            <a:srgbClr val="4F8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Isosceles Triangle 63">
            <a:extLst>
              <a:ext uri="{FF2B5EF4-FFF2-40B4-BE49-F238E27FC236}">
                <a16:creationId xmlns:a16="http://schemas.microsoft.com/office/drawing/2014/main" id="{38B92669-1958-4710-B775-CCE3FAED3A11}"/>
              </a:ext>
            </a:extLst>
          </p:cNvPr>
          <p:cNvSpPr/>
          <p:nvPr/>
        </p:nvSpPr>
        <p:spPr>
          <a:xfrm rot="5400000">
            <a:off x="8714857" y="2274943"/>
            <a:ext cx="211234" cy="176476"/>
          </a:xfrm>
          <a:prstGeom prst="triangle">
            <a:avLst/>
          </a:prstGeom>
          <a:solidFill>
            <a:srgbClr val="4F86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Rectangle 17">
            <a:extLst>
              <a:ext uri="{FF2B5EF4-FFF2-40B4-BE49-F238E27FC236}">
                <a16:creationId xmlns:a16="http://schemas.microsoft.com/office/drawing/2014/main" id="{ABBD3309-3D96-4224-BC37-85A5A27AEAEF}"/>
              </a:ext>
            </a:extLst>
          </p:cNvPr>
          <p:cNvSpPr>
            <a:spLocks noChangeArrowheads="1"/>
          </p:cNvSpPr>
          <p:nvPr/>
        </p:nvSpPr>
        <p:spPr bwMode="auto">
          <a:xfrm>
            <a:off x="6482349" y="3690749"/>
            <a:ext cx="5628356"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1"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Uncoordinated multi-touch outreach creates visibility, ownership, and reporting challenges across the sales funnel.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1"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endParaRPr>
          </a:p>
        </p:txBody>
      </p:sp>
      <p:sp>
        <p:nvSpPr>
          <p:cNvPr id="73" name="TextBox 72">
            <a:extLst>
              <a:ext uri="{FF2B5EF4-FFF2-40B4-BE49-F238E27FC236}">
                <a16:creationId xmlns:a16="http://schemas.microsoft.com/office/drawing/2014/main" id="{54DCCA6E-87D3-4BB0-91CA-6CCAACD98AAC}"/>
              </a:ext>
            </a:extLst>
          </p:cNvPr>
          <p:cNvSpPr txBox="1"/>
          <p:nvPr/>
        </p:nvSpPr>
        <p:spPr>
          <a:xfrm>
            <a:off x="1218289" y="5395393"/>
            <a:ext cx="1694576" cy="892552"/>
          </a:xfrm>
          <a:prstGeom prst="rect">
            <a:avLst/>
          </a:prstGeom>
          <a:noFill/>
        </p:spPr>
        <p:txBody>
          <a:bodyPr wrap="square">
            <a:spAutoFit/>
          </a:bodyPr>
          <a:lstStyle/>
          <a:p>
            <a:pPr algn="ctr"/>
            <a:r>
              <a:rPr lang="en-IN" sz="2400" dirty="0">
                <a:latin typeface="Segoe UI Semibold" panose="020B0702040204020203" pitchFamily="34" charset="0"/>
                <a:cs typeface="Segoe UI Semibold" panose="020B0702040204020203" pitchFamily="34" charset="0"/>
              </a:rPr>
              <a:t>18,014</a:t>
            </a:r>
            <a:br>
              <a:rPr lang="en-IN" sz="1400" dirty="0">
                <a:latin typeface="Segoe UI Semibold" panose="020B0702040204020203" pitchFamily="34" charset="0"/>
                <a:cs typeface="Segoe UI Semibold" panose="020B0702040204020203" pitchFamily="34" charset="0"/>
              </a:rPr>
            </a:br>
            <a:r>
              <a:rPr lang="en-IN" sz="1200" dirty="0">
                <a:latin typeface="Segoe UI Semibold" panose="020B0702040204020203" pitchFamily="34" charset="0"/>
                <a:cs typeface="Segoe UI Semibold" panose="020B0702040204020203" pitchFamily="34" charset="0"/>
              </a:rPr>
              <a:t>Total Journeys</a:t>
            </a:r>
            <a:br>
              <a:rPr lang="en-IN" sz="1400" dirty="0">
                <a:latin typeface="Segoe UI Semibold" panose="020B0702040204020203" pitchFamily="34" charset="0"/>
                <a:cs typeface="Segoe UI Semibold" panose="020B0702040204020203" pitchFamily="34" charset="0"/>
              </a:rPr>
            </a:br>
            <a:endParaRPr lang="en-IN" sz="1400" dirty="0">
              <a:latin typeface="Segoe UI Semibold" panose="020B0702040204020203" pitchFamily="34" charset="0"/>
              <a:cs typeface="Segoe UI Semibold" panose="020B0702040204020203" pitchFamily="34" charset="0"/>
            </a:endParaRPr>
          </a:p>
        </p:txBody>
      </p:sp>
      <p:sp>
        <p:nvSpPr>
          <p:cNvPr id="75" name="TextBox 74">
            <a:extLst>
              <a:ext uri="{FF2B5EF4-FFF2-40B4-BE49-F238E27FC236}">
                <a16:creationId xmlns:a16="http://schemas.microsoft.com/office/drawing/2014/main" id="{83A4D132-FC68-4004-8E1C-FCDD3B708E27}"/>
              </a:ext>
            </a:extLst>
          </p:cNvPr>
          <p:cNvSpPr txBox="1"/>
          <p:nvPr/>
        </p:nvSpPr>
        <p:spPr>
          <a:xfrm>
            <a:off x="5213158" y="5395392"/>
            <a:ext cx="1899799" cy="646331"/>
          </a:xfrm>
          <a:prstGeom prst="rect">
            <a:avLst/>
          </a:prstGeom>
          <a:noFill/>
        </p:spPr>
        <p:txBody>
          <a:bodyPr wrap="square">
            <a:spAutoFit/>
          </a:bodyPr>
          <a:lstStyle/>
          <a:p>
            <a:pPr algn="ctr"/>
            <a:r>
              <a:rPr lang="en-IN" sz="2400" dirty="0">
                <a:latin typeface="Segoe UI Semibold" panose="020B0702040204020203" pitchFamily="34" charset="0"/>
                <a:cs typeface="Segoe UI Semibold" panose="020B0702040204020203" pitchFamily="34" charset="0"/>
              </a:rPr>
              <a:t>718</a:t>
            </a:r>
            <a:br>
              <a:rPr lang="en-IN" sz="1400" dirty="0">
                <a:latin typeface="Segoe UI Semibold" panose="020B0702040204020203" pitchFamily="34" charset="0"/>
                <a:cs typeface="Segoe UI Semibold" panose="020B0702040204020203" pitchFamily="34" charset="0"/>
              </a:rPr>
            </a:br>
            <a:r>
              <a:rPr lang="en-IN" sz="1200" dirty="0">
                <a:latin typeface="Segoe UI Semibold" panose="020B0702040204020203" pitchFamily="34" charset="0"/>
                <a:cs typeface="Segoe UI Semibold" panose="020B0702040204020203" pitchFamily="34" charset="0"/>
              </a:rPr>
              <a:t>Converted Journeys</a:t>
            </a:r>
          </a:p>
        </p:txBody>
      </p:sp>
      <p:sp>
        <p:nvSpPr>
          <p:cNvPr id="77" name="TextBox 76">
            <a:extLst>
              <a:ext uri="{FF2B5EF4-FFF2-40B4-BE49-F238E27FC236}">
                <a16:creationId xmlns:a16="http://schemas.microsoft.com/office/drawing/2014/main" id="{26B87273-91AD-4661-B1CF-E45ABAC92351}"/>
              </a:ext>
            </a:extLst>
          </p:cNvPr>
          <p:cNvSpPr txBox="1"/>
          <p:nvPr/>
        </p:nvSpPr>
        <p:spPr>
          <a:xfrm>
            <a:off x="9284415" y="5411674"/>
            <a:ext cx="2155868" cy="646331"/>
          </a:xfrm>
          <a:prstGeom prst="rect">
            <a:avLst/>
          </a:prstGeom>
          <a:noFill/>
        </p:spPr>
        <p:txBody>
          <a:bodyPr wrap="square">
            <a:spAutoFit/>
          </a:bodyPr>
          <a:lstStyle/>
          <a:p>
            <a:pPr algn="ctr"/>
            <a:r>
              <a:rPr lang="en-IN" sz="2400" dirty="0">
                <a:latin typeface="Segoe UI Semibold" panose="020B0702040204020203" pitchFamily="34" charset="0"/>
                <a:cs typeface="Segoe UI Semibold" panose="020B0702040204020203" pitchFamily="34" charset="0"/>
              </a:rPr>
              <a:t>72.5</a:t>
            </a:r>
            <a:r>
              <a:rPr lang="en-IN" sz="1400" dirty="0">
                <a:latin typeface="Segoe UI Semibold" panose="020B0702040204020203" pitchFamily="34" charset="0"/>
                <a:cs typeface="Segoe UI Semibold" panose="020B0702040204020203" pitchFamily="34" charset="0"/>
              </a:rPr>
              <a:t>%</a:t>
            </a:r>
            <a:br>
              <a:rPr lang="en-IN" sz="1400" dirty="0">
                <a:latin typeface="Segoe UI Semibold" panose="020B0702040204020203" pitchFamily="34" charset="0"/>
                <a:cs typeface="Segoe UI Semibold" panose="020B0702040204020203" pitchFamily="34" charset="0"/>
              </a:rPr>
            </a:br>
            <a:r>
              <a:rPr lang="en-IN" sz="1200" dirty="0">
                <a:latin typeface="Segoe UI Semibold" panose="020B0702040204020203" pitchFamily="34" charset="0"/>
                <a:cs typeface="Segoe UI Semibold" panose="020B0702040204020203" pitchFamily="34" charset="0"/>
              </a:rPr>
              <a:t>Sender Overlap Rate</a:t>
            </a:r>
          </a:p>
        </p:txBody>
      </p:sp>
    </p:spTree>
    <p:extLst>
      <p:ext uri="{BB962C8B-B14F-4D97-AF65-F5344CB8AC3E}">
        <p14:creationId xmlns:p14="http://schemas.microsoft.com/office/powerpoint/2010/main" val="2471961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17A5F98-236A-45BD-9F09-2FBA29E5A18C}"/>
              </a:ext>
            </a:extLst>
          </p:cNvPr>
          <p:cNvSpPr>
            <a:spLocks noGrp="1" noChangeArrowheads="1"/>
          </p:cNvSpPr>
          <p:nvPr>
            <p:ph type="title"/>
          </p:nvPr>
        </p:nvSpPr>
        <p:spPr bwMode="auto">
          <a:xfrm>
            <a:off x="0" y="86068"/>
            <a:ext cx="122040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Analytical Approach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2D04EC3E-890C-4A48-9BE1-C827D2AFE34D}"/>
              </a:ext>
            </a:extLst>
          </p:cNvPr>
          <p:cNvSpPr/>
          <p:nvPr/>
        </p:nvSpPr>
        <p:spPr>
          <a:xfrm>
            <a:off x="87085" y="1032078"/>
            <a:ext cx="3294743" cy="648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1B6468FF-C82F-4B82-B604-CC7DBE5F21E2}"/>
              </a:ext>
            </a:extLst>
          </p:cNvPr>
          <p:cNvSpPr/>
          <p:nvPr/>
        </p:nvSpPr>
        <p:spPr>
          <a:xfrm>
            <a:off x="4383315" y="1032078"/>
            <a:ext cx="3294743" cy="648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A468B0D6-3C43-409E-8539-D634B9EA267B}"/>
              </a:ext>
            </a:extLst>
          </p:cNvPr>
          <p:cNvSpPr/>
          <p:nvPr/>
        </p:nvSpPr>
        <p:spPr>
          <a:xfrm>
            <a:off x="8462243" y="1032078"/>
            <a:ext cx="3294743" cy="648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Rectangle 1">
            <a:extLst>
              <a:ext uri="{FF2B5EF4-FFF2-40B4-BE49-F238E27FC236}">
                <a16:creationId xmlns:a16="http://schemas.microsoft.com/office/drawing/2014/main" id="{0DBF9400-C0B4-4685-BBF9-D2BF856CBF9B}"/>
              </a:ext>
            </a:extLst>
          </p:cNvPr>
          <p:cNvSpPr>
            <a:spLocks noChangeArrowheads="1"/>
          </p:cNvSpPr>
          <p:nvPr/>
        </p:nvSpPr>
        <p:spPr bwMode="auto">
          <a:xfrm>
            <a:off x="1451429" y="1032078"/>
            <a:ext cx="1030513"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Data Sources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0AA80896-111F-42DB-B2FA-68681A2675AF}"/>
              </a:ext>
            </a:extLst>
          </p:cNvPr>
          <p:cNvSpPr>
            <a:spLocks noChangeArrowheads="1"/>
          </p:cNvSpPr>
          <p:nvPr/>
        </p:nvSpPr>
        <p:spPr bwMode="auto">
          <a:xfrm>
            <a:off x="5361272" y="1139799"/>
            <a:ext cx="133882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SQL Modeling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FFB88A01-5BEF-4E0A-9DA5-7FA48E320F7D}"/>
              </a:ext>
            </a:extLst>
          </p:cNvPr>
          <p:cNvSpPr>
            <a:spLocks noChangeArrowheads="1"/>
          </p:cNvSpPr>
          <p:nvPr/>
        </p:nvSpPr>
        <p:spPr bwMode="auto">
          <a:xfrm>
            <a:off x="8619452" y="1055159"/>
            <a:ext cx="2835200"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KPI Framework</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100" b="1" dirty="0">
                <a:latin typeface="Segoe UI Semibold" panose="020B0702040204020203" pitchFamily="34" charset="0"/>
                <a:cs typeface="Segoe UI Semibold" panose="020B0702040204020203" pitchFamily="34" charset="0"/>
              </a:rPr>
              <a:t>(Email + Campaign Reporting Grain)</a:t>
            </a:r>
            <a:endParaRPr kumimoji="0" lang="en-US" altLang="en-US" sz="1100" b="1"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8">
            <a:extLst>
              <a:ext uri="{FF2B5EF4-FFF2-40B4-BE49-F238E27FC236}">
                <a16:creationId xmlns:a16="http://schemas.microsoft.com/office/drawing/2014/main" id="{1A2DC3BA-C1A8-4AE7-97C1-69598EA6C347}"/>
              </a:ext>
            </a:extLst>
          </p:cNvPr>
          <p:cNvSpPr/>
          <p:nvPr/>
        </p:nvSpPr>
        <p:spPr>
          <a:xfrm>
            <a:off x="319313" y="2078502"/>
            <a:ext cx="3294743" cy="4107766"/>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Dataset </a:t>
            </a:r>
          </a:p>
        </p:txBody>
      </p:sp>
      <p:sp>
        <p:nvSpPr>
          <p:cNvPr id="10" name="Rectangle 9">
            <a:extLst>
              <a:ext uri="{FF2B5EF4-FFF2-40B4-BE49-F238E27FC236}">
                <a16:creationId xmlns:a16="http://schemas.microsoft.com/office/drawing/2014/main" id="{76B6BEEA-9166-40BF-A312-D2663E69B07F}"/>
              </a:ext>
            </a:extLst>
          </p:cNvPr>
          <p:cNvSpPr/>
          <p:nvPr/>
        </p:nvSpPr>
        <p:spPr>
          <a:xfrm>
            <a:off x="4354284" y="2122998"/>
            <a:ext cx="3294743" cy="4107766"/>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AADB2036-8FFD-4A15-9BA9-7778F78946C8}"/>
              </a:ext>
            </a:extLst>
          </p:cNvPr>
          <p:cNvSpPr/>
          <p:nvPr/>
        </p:nvSpPr>
        <p:spPr>
          <a:xfrm>
            <a:off x="8389672" y="2147257"/>
            <a:ext cx="3294743" cy="4107766"/>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4">
            <a:extLst>
              <a:ext uri="{FF2B5EF4-FFF2-40B4-BE49-F238E27FC236}">
                <a16:creationId xmlns:a16="http://schemas.microsoft.com/office/drawing/2014/main" id="{179B7EB4-3931-4710-9536-F3C5F68A01F8}"/>
              </a:ext>
            </a:extLst>
          </p:cNvPr>
          <p:cNvSpPr>
            <a:spLocks noChangeArrowheads="1"/>
          </p:cNvSpPr>
          <p:nvPr/>
        </p:nvSpPr>
        <p:spPr bwMode="auto">
          <a:xfrm>
            <a:off x="566056" y="5167572"/>
            <a:ext cx="250829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i="1"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5 operational datasets representing the complete outbound prospect journey.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1"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p:txBody>
      </p:sp>
      <p:graphicFrame>
        <p:nvGraphicFramePr>
          <p:cNvPr id="26" name="Table 26">
            <a:extLst>
              <a:ext uri="{FF2B5EF4-FFF2-40B4-BE49-F238E27FC236}">
                <a16:creationId xmlns:a16="http://schemas.microsoft.com/office/drawing/2014/main" id="{A203EC8F-3593-438E-BEB0-9987865E073C}"/>
              </a:ext>
            </a:extLst>
          </p:cNvPr>
          <p:cNvGraphicFramePr>
            <a:graphicFrameLocks noGrp="1"/>
          </p:cNvGraphicFramePr>
          <p:nvPr>
            <p:extLst>
              <p:ext uri="{D42A27DB-BD31-4B8C-83A1-F6EECF244321}">
                <p14:modId xmlns:p14="http://schemas.microsoft.com/office/powerpoint/2010/main" val="4225694076"/>
              </p:ext>
            </p:extLst>
          </p:nvPr>
        </p:nvGraphicFramePr>
        <p:xfrm>
          <a:off x="290283" y="2173869"/>
          <a:ext cx="3294743" cy="2747498"/>
        </p:xfrm>
        <a:graphic>
          <a:graphicData uri="http://schemas.openxmlformats.org/drawingml/2006/table">
            <a:tbl>
              <a:tblPr firstRow="1" bandRow="1">
                <a:tableStyleId>{5C22544A-7EE6-4342-B048-85BDC9FD1C3A}</a:tableStyleId>
              </a:tblPr>
              <a:tblGrid>
                <a:gridCol w="979589">
                  <a:extLst>
                    <a:ext uri="{9D8B030D-6E8A-4147-A177-3AD203B41FA5}">
                      <a16:colId xmlns:a16="http://schemas.microsoft.com/office/drawing/2014/main" val="3768039000"/>
                    </a:ext>
                  </a:extLst>
                </a:gridCol>
                <a:gridCol w="1250031">
                  <a:extLst>
                    <a:ext uri="{9D8B030D-6E8A-4147-A177-3AD203B41FA5}">
                      <a16:colId xmlns:a16="http://schemas.microsoft.com/office/drawing/2014/main" val="1004540821"/>
                    </a:ext>
                  </a:extLst>
                </a:gridCol>
                <a:gridCol w="1065123">
                  <a:extLst>
                    <a:ext uri="{9D8B030D-6E8A-4147-A177-3AD203B41FA5}">
                      <a16:colId xmlns:a16="http://schemas.microsoft.com/office/drawing/2014/main" val="2648461594"/>
                    </a:ext>
                  </a:extLst>
                </a:gridCol>
              </a:tblGrid>
              <a:tr h="428562">
                <a:tc>
                  <a:txBody>
                    <a:bodyPr/>
                    <a:lstStyle/>
                    <a:p>
                      <a:pPr algn="l"/>
                      <a:r>
                        <a:rPr lang="en-IN" sz="1400" dirty="0">
                          <a:solidFill>
                            <a:schemeClr val="tx1"/>
                          </a:solidFill>
                          <a:latin typeface="Segoe UI Semibold" panose="020B0702040204020203" pitchFamily="34" charset="0"/>
                          <a:ea typeface="Segoe UI Black" panose="020B0A02040204020203" pitchFamily="34" charset="0"/>
                          <a:cs typeface="Segoe UI Semibold" panose="020B0702040204020203" pitchFamily="34" charset="0"/>
                        </a:rPr>
                        <a:t>Dataset</a:t>
                      </a:r>
                      <a:endParaRPr lang="en-IN" sz="1400" dirty="0">
                        <a:solidFill>
                          <a:schemeClr val="tx1"/>
                        </a:solidFill>
                        <a:latin typeface="Segoe UI Semibold" panose="020B0702040204020203" pitchFamily="34" charset="0"/>
                        <a:cs typeface="Segoe UI Semibold" panose="020B0702040204020203" pitchFamily="34"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l"/>
                      <a:r>
                        <a:rPr lang="en-IN" sz="1400" dirty="0">
                          <a:solidFill>
                            <a:schemeClr val="tx1"/>
                          </a:solidFill>
                          <a:latin typeface="Segoe UI Semibold" panose="020B0702040204020203" pitchFamily="34" charset="0"/>
                          <a:cs typeface="Segoe UI Semibold" panose="020B0702040204020203" pitchFamily="34" charset="0"/>
                        </a:rPr>
                        <a:t>Grain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pPr algn="ctr"/>
                      <a:r>
                        <a:rPr lang="en-IN" sz="1400" dirty="0">
                          <a:solidFill>
                            <a:schemeClr val="tx1"/>
                          </a:solidFill>
                          <a:latin typeface="Segoe UI Semibold" panose="020B0702040204020203" pitchFamily="34" charset="0"/>
                          <a:cs typeface="Segoe UI Semibold" panose="020B0702040204020203" pitchFamily="34" charset="0"/>
                        </a:rPr>
                        <a:t>Purpose</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1429474"/>
                  </a:ext>
                </a:extLst>
              </a:tr>
              <a:tr h="526422">
                <a:tc>
                  <a:txBody>
                    <a:bodyPr/>
                    <a:lstStyle/>
                    <a:p>
                      <a:pPr algn="l"/>
                      <a:r>
                        <a:rPr lang="en-US" sz="1100" dirty="0">
                          <a:solidFill>
                            <a:schemeClr val="tx1"/>
                          </a:solidFill>
                          <a:latin typeface="Segoe UI" panose="020B0502040204020203" pitchFamily="34" charset="0"/>
                          <a:cs typeface="Segoe UI" panose="020B0502040204020203" pitchFamily="34" charset="0"/>
                        </a:rPr>
                        <a:t>Email Activity</a:t>
                      </a:r>
                      <a:endParaRPr lang="en-IN" sz="11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100" dirty="0">
                          <a:solidFill>
                            <a:schemeClr val="tx1"/>
                          </a:solidFill>
                          <a:latin typeface="Segoe UI" panose="020B0502040204020203" pitchFamily="34" charset="0"/>
                          <a:cs typeface="Segoe UI" panose="020B0502040204020203" pitchFamily="34" charset="0"/>
                        </a:rPr>
                        <a:t>1 outreach </a:t>
                      </a:r>
                      <a:endParaRPr lang="en-IN" sz="1100" b="1"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IN" sz="1200" dirty="0"/>
                        <a:t>Outreach History</a:t>
                      </a:r>
                      <a:endParaRPr lang="en-IN" sz="12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79751823"/>
                  </a:ext>
                </a:extLst>
              </a:tr>
              <a:tr h="449943">
                <a:tc>
                  <a:txBody>
                    <a:bodyPr/>
                    <a:lstStyle/>
                    <a:p>
                      <a:pPr algn="l"/>
                      <a:r>
                        <a:rPr lang="en-IN" sz="1100" dirty="0">
                          <a:solidFill>
                            <a:schemeClr val="tx1"/>
                          </a:solidFill>
                          <a:latin typeface="Segoe UI" panose="020B0502040204020203" pitchFamily="34" charset="0"/>
                          <a:cs typeface="Segoe UI" panose="020B0502040204020203" pitchFamily="34" charset="0"/>
                        </a:rPr>
                        <a:t>Engagement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IN" sz="1100" dirty="0">
                          <a:solidFill>
                            <a:schemeClr val="tx1"/>
                          </a:solidFill>
                          <a:latin typeface="Segoe UI" panose="020B0502040204020203" pitchFamily="34" charset="0"/>
                          <a:cs typeface="Segoe UI" panose="020B0502040204020203" pitchFamily="34" charset="0"/>
                        </a:rPr>
                        <a:t>1 engagement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IN" sz="1200" dirty="0"/>
                        <a:t>Responses &amp; Outcomes</a:t>
                      </a:r>
                      <a:endParaRPr lang="en-IN" sz="12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437897"/>
                  </a:ext>
                </a:extLst>
              </a:tr>
              <a:tr h="420914">
                <a:tc>
                  <a:txBody>
                    <a:bodyPr/>
                    <a:lstStyle/>
                    <a:p>
                      <a:pPr algn="l"/>
                      <a:r>
                        <a:rPr lang="en-US" sz="1100" dirty="0">
                          <a:solidFill>
                            <a:schemeClr val="tx1"/>
                          </a:solidFill>
                          <a:latin typeface="Segoe UI" panose="020B0502040204020203" pitchFamily="34" charset="0"/>
                          <a:cs typeface="Segoe UI" panose="020B0502040204020203" pitchFamily="34" charset="0"/>
                        </a:rPr>
                        <a:t>Contacts</a:t>
                      </a:r>
                      <a:endParaRPr lang="en-IN" sz="11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100" dirty="0">
                          <a:solidFill>
                            <a:schemeClr val="tx1"/>
                          </a:solidFill>
                          <a:latin typeface="Segoe UI" panose="020B0502040204020203" pitchFamily="34" charset="0"/>
                          <a:cs typeface="Segoe UI" panose="020B0502040204020203" pitchFamily="34" charset="0"/>
                        </a:rPr>
                        <a:t>1 CRM </a:t>
                      </a:r>
                      <a:endParaRPr lang="en-IN" sz="11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IN" sz="1200" dirty="0"/>
                        <a:t>Identity Data</a:t>
                      </a:r>
                      <a:endParaRPr lang="en-IN" sz="12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4377762"/>
                  </a:ext>
                </a:extLst>
              </a:tr>
              <a:tr h="450436">
                <a:tc>
                  <a:txBody>
                    <a:bodyPr/>
                    <a:lstStyle/>
                    <a:p>
                      <a:pPr algn="l"/>
                      <a:r>
                        <a:rPr lang="en-US" sz="1100" dirty="0">
                          <a:solidFill>
                            <a:schemeClr val="tx1"/>
                          </a:solidFill>
                          <a:latin typeface="Segoe UI" panose="020B0502040204020203" pitchFamily="34" charset="0"/>
                          <a:cs typeface="Segoe UI" panose="020B0502040204020203" pitchFamily="34" charset="0"/>
                        </a:rPr>
                        <a:t>Campaigns</a:t>
                      </a:r>
                      <a:endParaRPr lang="en-IN" sz="11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100" dirty="0">
                          <a:solidFill>
                            <a:schemeClr val="tx1"/>
                          </a:solidFill>
                          <a:latin typeface="Segoe UI" panose="020B0502040204020203" pitchFamily="34" charset="0"/>
                          <a:cs typeface="Segoe UI" panose="020B0502040204020203" pitchFamily="34" charset="0"/>
                        </a:rPr>
                        <a:t>1 campaign </a:t>
                      </a:r>
                      <a:endParaRPr lang="en-IN" sz="11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IN" sz="1200" dirty="0"/>
                        <a:t>Campaign Strategy</a:t>
                      </a:r>
                      <a:endParaRPr lang="en-IN" sz="12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95127755"/>
                  </a:ext>
                </a:extLst>
              </a:tr>
              <a:tr h="428562">
                <a:tc>
                  <a:txBody>
                    <a:bodyPr/>
                    <a:lstStyle/>
                    <a:p>
                      <a:pPr algn="l"/>
                      <a:r>
                        <a:rPr lang="en-US" sz="1100" dirty="0">
                          <a:solidFill>
                            <a:schemeClr val="tx1"/>
                          </a:solidFill>
                          <a:latin typeface="Segoe UI" panose="020B0502040204020203" pitchFamily="34" charset="0"/>
                          <a:cs typeface="Segoe UI" panose="020B0502040204020203" pitchFamily="34" charset="0"/>
                        </a:rPr>
                        <a:t>Senders</a:t>
                      </a:r>
                      <a:endParaRPr lang="en-IN" sz="11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sz="1100" dirty="0">
                          <a:solidFill>
                            <a:schemeClr val="tx1"/>
                          </a:solidFill>
                          <a:latin typeface="Segoe UI" panose="020B0502040204020203" pitchFamily="34" charset="0"/>
                          <a:cs typeface="Segoe UI" panose="020B0502040204020203" pitchFamily="34" charset="0"/>
                        </a:rPr>
                        <a:t>1 sender </a:t>
                      </a:r>
                      <a:endParaRPr lang="en-IN" sz="11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IN" sz="1200" dirty="0"/>
                        <a:t>Ownership &amp; Segmentation</a:t>
                      </a:r>
                      <a:endParaRPr lang="en-IN" sz="1200" dirty="0">
                        <a:solidFill>
                          <a:schemeClr val="tx1"/>
                        </a:solidFill>
                        <a:latin typeface="Segoe UI" panose="020B0502040204020203" pitchFamily="34" charset="0"/>
                        <a:cs typeface="Segoe UI" panose="020B0502040204020203"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06767576"/>
                  </a:ext>
                </a:extLst>
              </a:tr>
            </a:tbl>
          </a:graphicData>
        </a:graphic>
      </p:graphicFrame>
      <p:sp>
        <p:nvSpPr>
          <p:cNvPr id="27" name="Rectangle 5">
            <a:extLst>
              <a:ext uri="{FF2B5EF4-FFF2-40B4-BE49-F238E27FC236}">
                <a16:creationId xmlns:a16="http://schemas.microsoft.com/office/drawing/2014/main" id="{05E2CDC0-E656-49BC-985F-FF8D90C6D337}"/>
              </a:ext>
            </a:extLst>
          </p:cNvPr>
          <p:cNvSpPr>
            <a:spLocks noChangeArrowheads="1"/>
          </p:cNvSpPr>
          <p:nvPr/>
        </p:nvSpPr>
        <p:spPr bwMode="auto">
          <a:xfrm>
            <a:off x="4492167" y="2122998"/>
            <a:ext cx="3018973"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Structured in 8 Sequential SQL Stages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29" name="TextBox 28">
            <a:extLst>
              <a:ext uri="{FF2B5EF4-FFF2-40B4-BE49-F238E27FC236}">
                <a16:creationId xmlns:a16="http://schemas.microsoft.com/office/drawing/2014/main" id="{E10F5DD8-DD24-41BE-A7F0-4F4AF72ECD25}"/>
              </a:ext>
            </a:extLst>
          </p:cNvPr>
          <p:cNvSpPr txBox="1"/>
          <p:nvPr/>
        </p:nvSpPr>
        <p:spPr>
          <a:xfrm>
            <a:off x="5070189" y="2537688"/>
            <a:ext cx="2970995" cy="3323987"/>
          </a:xfrm>
          <a:prstGeom prst="rect">
            <a:avLst/>
          </a:prstGeom>
          <a:noFill/>
        </p:spPr>
        <p:txBody>
          <a:bodyPr wrap="square">
            <a:spAutoFit/>
          </a:bodyPr>
          <a:lstStyle/>
          <a:p>
            <a:r>
              <a:rPr lang="en-IN" sz="1400" dirty="0">
                <a:latin typeface="Segoe UI" panose="020B0502040204020203" pitchFamily="34" charset="0"/>
                <a:cs typeface="Segoe UI" panose="020B0502040204020203" pitchFamily="34" charset="0"/>
              </a:rPr>
              <a:t>Environment Setup</a:t>
            </a:r>
            <a:br>
              <a:rPr lang="en-IN" sz="1400" dirty="0">
                <a:latin typeface="Segoe UI" panose="020B0502040204020203" pitchFamily="34" charset="0"/>
                <a:cs typeface="Segoe UI" panose="020B0502040204020203" pitchFamily="34" charset="0"/>
              </a:rPr>
            </a:br>
            <a:endParaRPr lang="en-IN" sz="1400" dirty="0">
              <a:latin typeface="Segoe UI" panose="020B0502040204020203" pitchFamily="34" charset="0"/>
              <a:cs typeface="Segoe UI" panose="020B0502040204020203" pitchFamily="34" charset="0"/>
            </a:endParaRPr>
          </a:p>
          <a:p>
            <a:r>
              <a:rPr lang="en-IN" sz="1400" dirty="0">
                <a:latin typeface="Segoe UI" panose="020B0502040204020203" pitchFamily="34" charset="0"/>
                <a:cs typeface="Segoe UI" panose="020B0502040204020203" pitchFamily="34" charset="0"/>
              </a:rPr>
              <a:t>Data Validation </a:t>
            </a:r>
          </a:p>
          <a:p>
            <a:endParaRPr lang="en-IN" sz="1400" dirty="0">
              <a:latin typeface="Segoe UI" panose="020B0502040204020203" pitchFamily="34" charset="0"/>
              <a:cs typeface="Segoe UI" panose="020B0502040204020203" pitchFamily="34" charset="0"/>
            </a:endParaRPr>
          </a:p>
          <a:p>
            <a:r>
              <a:rPr lang="en-IN" sz="1400" dirty="0">
                <a:latin typeface="Segoe UI" panose="020B0502040204020203" pitchFamily="34" charset="0"/>
                <a:cs typeface="Segoe UI" panose="020B0502040204020203" pitchFamily="34" charset="0"/>
              </a:rPr>
              <a:t>Relationship Validation</a:t>
            </a:r>
          </a:p>
          <a:p>
            <a:endParaRPr lang="en-IN" sz="1400" dirty="0">
              <a:latin typeface="Segoe UI" panose="020B0502040204020203" pitchFamily="34" charset="0"/>
              <a:cs typeface="Segoe UI" panose="020B0502040204020203" pitchFamily="34" charset="0"/>
            </a:endParaRPr>
          </a:p>
          <a:p>
            <a:r>
              <a:rPr lang="en-IN" sz="1400" dirty="0">
                <a:latin typeface="Segoe UI" panose="020B0502040204020203" pitchFamily="34" charset="0"/>
                <a:cs typeface="Segoe UI" panose="020B0502040204020203" pitchFamily="34" charset="0"/>
              </a:rPr>
              <a:t>Summary Layers</a:t>
            </a:r>
          </a:p>
          <a:p>
            <a:endParaRPr lang="en-IN" sz="1400" dirty="0">
              <a:latin typeface="Segoe UI" panose="020B0502040204020203" pitchFamily="34" charset="0"/>
              <a:cs typeface="Segoe UI" panose="020B0502040204020203" pitchFamily="34" charset="0"/>
            </a:endParaRPr>
          </a:p>
          <a:p>
            <a:r>
              <a:rPr lang="en-IN" sz="1400" dirty="0">
                <a:latin typeface="Segoe UI" panose="020B0502040204020203" pitchFamily="34" charset="0"/>
                <a:cs typeface="Segoe UI" panose="020B0502040204020203" pitchFamily="34" charset="0"/>
              </a:rPr>
              <a:t>Sender Overlap Model</a:t>
            </a:r>
          </a:p>
          <a:p>
            <a:endParaRPr lang="en-IN" sz="1400" dirty="0">
              <a:latin typeface="Segoe UI" panose="020B0502040204020203" pitchFamily="34" charset="0"/>
              <a:cs typeface="Segoe UI" panose="020B0502040204020203" pitchFamily="34" charset="0"/>
            </a:endParaRPr>
          </a:p>
          <a:p>
            <a:r>
              <a:rPr lang="en-IN" sz="1400" dirty="0">
                <a:latin typeface="Segoe UI" panose="020B0502040204020203" pitchFamily="34" charset="0"/>
                <a:cs typeface="Segoe UI" panose="020B0502040204020203" pitchFamily="34" charset="0"/>
              </a:rPr>
              <a:t>Analytical Master</a:t>
            </a:r>
          </a:p>
          <a:p>
            <a:endParaRPr lang="en-IN" sz="1400" dirty="0">
              <a:latin typeface="Segoe UI" panose="020B0502040204020203" pitchFamily="34" charset="0"/>
              <a:cs typeface="Segoe UI" panose="020B0502040204020203" pitchFamily="34" charset="0"/>
            </a:endParaRPr>
          </a:p>
          <a:p>
            <a:r>
              <a:rPr lang="en-IN" sz="1400" dirty="0">
                <a:latin typeface="Segoe UI" panose="020B0502040204020203" pitchFamily="34" charset="0"/>
                <a:cs typeface="Segoe UI" panose="020B0502040204020203" pitchFamily="34" charset="0"/>
              </a:rPr>
              <a:t>Journey Validation</a:t>
            </a:r>
          </a:p>
          <a:p>
            <a:endParaRPr lang="en-IN" sz="1400" dirty="0">
              <a:latin typeface="Segoe UI" panose="020B0502040204020203" pitchFamily="34" charset="0"/>
              <a:cs typeface="Segoe UI" panose="020B0502040204020203" pitchFamily="34" charset="0"/>
            </a:endParaRPr>
          </a:p>
          <a:p>
            <a:r>
              <a:rPr lang="en-IN" sz="1400" dirty="0">
                <a:latin typeface="Segoe UI" panose="020B0502040204020203" pitchFamily="34" charset="0"/>
                <a:cs typeface="Segoe UI" panose="020B0502040204020203" pitchFamily="34" charset="0"/>
              </a:rPr>
              <a:t>KPI Development</a:t>
            </a:r>
          </a:p>
        </p:txBody>
      </p:sp>
      <p:cxnSp>
        <p:nvCxnSpPr>
          <p:cNvPr id="31" name="Straight Arrow Connector 30">
            <a:extLst>
              <a:ext uri="{FF2B5EF4-FFF2-40B4-BE49-F238E27FC236}">
                <a16:creationId xmlns:a16="http://schemas.microsoft.com/office/drawing/2014/main" id="{AB92C261-5DE1-494D-9C47-18A86BA67A92}"/>
              </a:ext>
            </a:extLst>
          </p:cNvPr>
          <p:cNvCxnSpPr>
            <a:cxnSpLocks/>
          </p:cNvCxnSpPr>
          <p:nvPr/>
        </p:nvCxnSpPr>
        <p:spPr>
          <a:xfrm>
            <a:off x="5941121" y="2823336"/>
            <a:ext cx="0" cy="151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0811953E-B582-4D68-93A9-4A584C5A7EBC}"/>
              </a:ext>
            </a:extLst>
          </p:cNvPr>
          <p:cNvSpPr/>
          <p:nvPr/>
        </p:nvSpPr>
        <p:spPr>
          <a:xfrm>
            <a:off x="4916171" y="3407643"/>
            <a:ext cx="2088000" cy="252000"/>
          </a:xfrm>
          <a:prstGeom prst="rect">
            <a:avLst/>
          </a:prstGeom>
          <a:solidFill>
            <a:srgbClr val="FFFFFF">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8" name="Rectangle 47">
            <a:extLst>
              <a:ext uri="{FF2B5EF4-FFF2-40B4-BE49-F238E27FC236}">
                <a16:creationId xmlns:a16="http://schemas.microsoft.com/office/drawing/2014/main" id="{3ED2F7EB-3031-43D9-B800-1021736B26BC}"/>
              </a:ext>
            </a:extLst>
          </p:cNvPr>
          <p:cNvSpPr/>
          <p:nvPr/>
        </p:nvSpPr>
        <p:spPr>
          <a:xfrm>
            <a:off x="4916171" y="3852993"/>
            <a:ext cx="2088000" cy="252000"/>
          </a:xfrm>
          <a:prstGeom prst="rect">
            <a:avLst/>
          </a:prstGeom>
          <a:solidFill>
            <a:srgbClr val="FFFFFF">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9" name="Rectangle 48">
            <a:extLst>
              <a:ext uri="{FF2B5EF4-FFF2-40B4-BE49-F238E27FC236}">
                <a16:creationId xmlns:a16="http://schemas.microsoft.com/office/drawing/2014/main" id="{AAA8C1F6-7EF5-4090-9D99-BED766AD2EEA}"/>
              </a:ext>
            </a:extLst>
          </p:cNvPr>
          <p:cNvSpPr/>
          <p:nvPr/>
        </p:nvSpPr>
        <p:spPr>
          <a:xfrm>
            <a:off x="4916171" y="4277845"/>
            <a:ext cx="2088000" cy="252000"/>
          </a:xfrm>
          <a:prstGeom prst="rect">
            <a:avLst/>
          </a:prstGeom>
          <a:solidFill>
            <a:srgbClr val="FFFFFF">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0" name="Rectangle 49">
            <a:extLst>
              <a:ext uri="{FF2B5EF4-FFF2-40B4-BE49-F238E27FC236}">
                <a16:creationId xmlns:a16="http://schemas.microsoft.com/office/drawing/2014/main" id="{5DEF79EF-CB11-4EC0-841B-3D5877406E56}"/>
              </a:ext>
            </a:extLst>
          </p:cNvPr>
          <p:cNvSpPr/>
          <p:nvPr/>
        </p:nvSpPr>
        <p:spPr>
          <a:xfrm>
            <a:off x="4923217" y="4700095"/>
            <a:ext cx="2088000" cy="252000"/>
          </a:xfrm>
          <a:prstGeom prst="rect">
            <a:avLst/>
          </a:prstGeom>
          <a:solidFill>
            <a:srgbClr val="FFFFFF">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1" name="Rectangle 50">
            <a:extLst>
              <a:ext uri="{FF2B5EF4-FFF2-40B4-BE49-F238E27FC236}">
                <a16:creationId xmlns:a16="http://schemas.microsoft.com/office/drawing/2014/main" id="{7E9D3F8B-1543-4EF6-AF1A-89C11DC819F4}"/>
              </a:ext>
            </a:extLst>
          </p:cNvPr>
          <p:cNvSpPr/>
          <p:nvPr/>
        </p:nvSpPr>
        <p:spPr>
          <a:xfrm>
            <a:off x="4916171" y="5122166"/>
            <a:ext cx="2088000" cy="252000"/>
          </a:xfrm>
          <a:prstGeom prst="rect">
            <a:avLst/>
          </a:prstGeom>
          <a:solidFill>
            <a:srgbClr val="FFFFFF">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2" name="Rectangle 51">
            <a:extLst>
              <a:ext uri="{FF2B5EF4-FFF2-40B4-BE49-F238E27FC236}">
                <a16:creationId xmlns:a16="http://schemas.microsoft.com/office/drawing/2014/main" id="{76EAF1D8-A17C-4CA8-B803-DB5C0BD9F35E}"/>
              </a:ext>
            </a:extLst>
          </p:cNvPr>
          <p:cNvSpPr/>
          <p:nvPr/>
        </p:nvSpPr>
        <p:spPr>
          <a:xfrm>
            <a:off x="4923217" y="5550465"/>
            <a:ext cx="2088000" cy="252000"/>
          </a:xfrm>
          <a:prstGeom prst="rect">
            <a:avLst/>
          </a:prstGeom>
          <a:solidFill>
            <a:srgbClr val="FFFFFF">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2" name="Rectangle 61">
            <a:extLst>
              <a:ext uri="{FF2B5EF4-FFF2-40B4-BE49-F238E27FC236}">
                <a16:creationId xmlns:a16="http://schemas.microsoft.com/office/drawing/2014/main" id="{211C05CF-CCD5-4584-BA6E-87D934D5E4F0}"/>
              </a:ext>
            </a:extLst>
          </p:cNvPr>
          <p:cNvSpPr/>
          <p:nvPr/>
        </p:nvSpPr>
        <p:spPr>
          <a:xfrm>
            <a:off x="4916171" y="2554483"/>
            <a:ext cx="2088000" cy="252000"/>
          </a:xfrm>
          <a:prstGeom prst="rect">
            <a:avLst/>
          </a:prstGeom>
          <a:solidFill>
            <a:srgbClr val="FFFFFF">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66" name="Straight Arrow Connector 65">
            <a:extLst>
              <a:ext uri="{FF2B5EF4-FFF2-40B4-BE49-F238E27FC236}">
                <a16:creationId xmlns:a16="http://schemas.microsoft.com/office/drawing/2014/main" id="{E3D48CAB-2931-4615-B4C3-9B224606EF6B}"/>
              </a:ext>
            </a:extLst>
          </p:cNvPr>
          <p:cNvCxnSpPr>
            <a:cxnSpLocks/>
          </p:cNvCxnSpPr>
          <p:nvPr/>
        </p:nvCxnSpPr>
        <p:spPr>
          <a:xfrm>
            <a:off x="5941121" y="3256076"/>
            <a:ext cx="0" cy="151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3B999F13-9C62-4B77-9D36-35DE01022933}"/>
              </a:ext>
            </a:extLst>
          </p:cNvPr>
          <p:cNvCxnSpPr>
            <a:cxnSpLocks/>
          </p:cNvCxnSpPr>
          <p:nvPr/>
        </p:nvCxnSpPr>
        <p:spPr>
          <a:xfrm>
            <a:off x="5941121" y="3695141"/>
            <a:ext cx="0" cy="151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D84B847-43ED-4AB4-A7F2-ADE2D746824D}"/>
              </a:ext>
            </a:extLst>
          </p:cNvPr>
          <p:cNvCxnSpPr>
            <a:cxnSpLocks/>
          </p:cNvCxnSpPr>
          <p:nvPr/>
        </p:nvCxnSpPr>
        <p:spPr>
          <a:xfrm>
            <a:off x="5941121" y="4123899"/>
            <a:ext cx="0" cy="151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0F36FE17-E748-479A-B7D8-834F887534C9}"/>
              </a:ext>
            </a:extLst>
          </p:cNvPr>
          <p:cNvCxnSpPr>
            <a:cxnSpLocks/>
          </p:cNvCxnSpPr>
          <p:nvPr/>
        </p:nvCxnSpPr>
        <p:spPr>
          <a:xfrm>
            <a:off x="5941121" y="4529845"/>
            <a:ext cx="0" cy="151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FB91625A-2A7E-44F6-862E-7962DC875E04}"/>
              </a:ext>
            </a:extLst>
          </p:cNvPr>
          <p:cNvCxnSpPr>
            <a:cxnSpLocks/>
          </p:cNvCxnSpPr>
          <p:nvPr/>
        </p:nvCxnSpPr>
        <p:spPr>
          <a:xfrm>
            <a:off x="5940730" y="4952095"/>
            <a:ext cx="0" cy="151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C75C025-3027-486F-933E-D8BA5A93EB42}"/>
              </a:ext>
            </a:extLst>
          </p:cNvPr>
          <p:cNvCxnSpPr>
            <a:cxnSpLocks/>
          </p:cNvCxnSpPr>
          <p:nvPr/>
        </p:nvCxnSpPr>
        <p:spPr>
          <a:xfrm>
            <a:off x="5940730" y="5374166"/>
            <a:ext cx="0" cy="151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3710644A-9ABD-413E-9772-2B51CB4A6EAF}"/>
              </a:ext>
            </a:extLst>
          </p:cNvPr>
          <p:cNvSpPr/>
          <p:nvPr/>
        </p:nvSpPr>
        <p:spPr>
          <a:xfrm>
            <a:off x="4919919" y="2997830"/>
            <a:ext cx="2088000" cy="252000"/>
          </a:xfrm>
          <a:prstGeom prst="rect">
            <a:avLst/>
          </a:prstGeom>
          <a:solidFill>
            <a:srgbClr val="FFFFFF">
              <a:alpha val="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6" name="Rectangle 75">
            <a:extLst>
              <a:ext uri="{FF2B5EF4-FFF2-40B4-BE49-F238E27FC236}">
                <a16:creationId xmlns:a16="http://schemas.microsoft.com/office/drawing/2014/main" id="{9CDF970E-76C7-4925-B631-E6C8C8BA26A1}"/>
              </a:ext>
            </a:extLst>
          </p:cNvPr>
          <p:cNvSpPr/>
          <p:nvPr/>
        </p:nvSpPr>
        <p:spPr>
          <a:xfrm>
            <a:off x="8614229" y="2262220"/>
            <a:ext cx="2786742" cy="7889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7" name="Rectangle 76">
            <a:extLst>
              <a:ext uri="{FF2B5EF4-FFF2-40B4-BE49-F238E27FC236}">
                <a16:creationId xmlns:a16="http://schemas.microsoft.com/office/drawing/2014/main" id="{8DC51CD9-8BED-419E-91ED-D90D3433DE00}"/>
              </a:ext>
            </a:extLst>
          </p:cNvPr>
          <p:cNvSpPr/>
          <p:nvPr/>
        </p:nvSpPr>
        <p:spPr>
          <a:xfrm>
            <a:off x="8633178" y="3225002"/>
            <a:ext cx="2786742" cy="7889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8" name="Rectangle 77">
            <a:extLst>
              <a:ext uri="{FF2B5EF4-FFF2-40B4-BE49-F238E27FC236}">
                <a16:creationId xmlns:a16="http://schemas.microsoft.com/office/drawing/2014/main" id="{434CB6D4-3847-4A18-A98B-C6C36B72A3DF}"/>
              </a:ext>
            </a:extLst>
          </p:cNvPr>
          <p:cNvSpPr/>
          <p:nvPr/>
        </p:nvSpPr>
        <p:spPr>
          <a:xfrm>
            <a:off x="8614229" y="4281647"/>
            <a:ext cx="2786742" cy="7889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9" name="Rectangle 78">
            <a:extLst>
              <a:ext uri="{FF2B5EF4-FFF2-40B4-BE49-F238E27FC236}">
                <a16:creationId xmlns:a16="http://schemas.microsoft.com/office/drawing/2014/main" id="{F8C5AEE5-5A67-49B2-BB9C-7CD8E916A8D4}"/>
              </a:ext>
            </a:extLst>
          </p:cNvPr>
          <p:cNvSpPr/>
          <p:nvPr/>
        </p:nvSpPr>
        <p:spPr>
          <a:xfrm>
            <a:off x="8633178" y="5222381"/>
            <a:ext cx="2786742" cy="7889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0" name="Rectangle 6">
            <a:extLst>
              <a:ext uri="{FF2B5EF4-FFF2-40B4-BE49-F238E27FC236}">
                <a16:creationId xmlns:a16="http://schemas.microsoft.com/office/drawing/2014/main" id="{8F5449EC-F6DA-48C3-96E0-1D72CBECE593}"/>
              </a:ext>
            </a:extLst>
          </p:cNvPr>
          <p:cNvSpPr>
            <a:spLocks noChangeArrowheads="1"/>
          </p:cNvSpPr>
          <p:nvPr/>
        </p:nvSpPr>
        <p:spPr bwMode="auto">
          <a:xfrm>
            <a:off x="8846458" y="3436447"/>
            <a:ext cx="23222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Sender Coordination</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Overlap • Conversion Delta</a:t>
            </a:r>
          </a:p>
        </p:txBody>
      </p:sp>
      <p:sp>
        <p:nvSpPr>
          <p:cNvPr id="81" name="Rectangle 7">
            <a:extLst>
              <a:ext uri="{FF2B5EF4-FFF2-40B4-BE49-F238E27FC236}">
                <a16:creationId xmlns:a16="http://schemas.microsoft.com/office/drawing/2014/main" id="{0E1D46C1-0F3E-4B28-8D82-9421D3C5327D}"/>
              </a:ext>
            </a:extLst>
          </p:cNvPr>
          <p:cNvSpPr>
            <a:spLocks noChangeArrowheads="1"/>
          </p:cNvSpPr>
          <p:nvPr/>
        </p:nvSpPr>
        <p:spPr bwMode="auto">
          <a:xfrm>
            <a:off x="8696460" y="2453233"/>
            <a:ext cx="26811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Funnel Performance</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Reply • Qualified • Converted</a:t>
            </a:r>
          </a:p>
        </p:txBody>
      </p:sp>
      <p:sp>
        <p:nvSpPr>
          <p:cNvPr id="82" name="Rectangle 8">
            <a:extLst>
              <a:ext uri="{FF2B5EF4-FFF2-40B4-BE49-F238E27FC236}">
                <a16:creationId xmlns:a16="http://schemas.microsoft.com/office/drawing/2014/main" id="{2CC6D2D7-179D-42DC-9E88-6D17630CB3DC}"/>
              </a:ext>
            </a:extLst>
          </p:cNvPr>
          <p:cNvSpPr>
            <a:spLocks noChangeArrowheads="1"/>
          </p:cNvSpPr>
          <p:nvPr/>
        </p:nvSpPr>
        <p:spPr bwMode="auto">
          <a:xfrm>
            <a:off x="9129902" y="4438339"/>
            <a:ext cx="18142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Outreach Efficiency</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Touchpoints • Duration</a:t>
            </a:r>
          </a:p>
        </p:txBody>
      </p:sp>
      <p:sp>
        <p:nvSpPr>
          <p:cNvPr id="83" name="Rectangle 8">
            <a:extLst>
              <a:ext uri="{FF2B5EF4-FFF2-40B4-BE49-F238E27FC236}">
                <a16:creationId xmlns:a16="http://schemas.microsoft.com/office/drawing/2014/main" id="{FAFAB28E-A50F-48A3-8B39-0DE7099A5860}"/>
              </a:ext>
            </a:extLst>
          </p:cNvPr>
          <p:cNvSpPr>
            <a:spLocks noChangeArrowheads="1"/>
          </p:cNvSpPr>
          <p:nvPr/>
        </p:nvSpPr>
        <p:spPr bwMode="auto">
          <a:xfrm>
            <a:off x="9002654" y="5286352"/>
            <a:ext cx="206877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IN" sz="1200" dirty="0">
                <a:latin typeface="Segoe UI Semibold" panose="020B0702040204020203" pitchFamily="34" charset="0"/>
                <a:cs typeface="Segoe UI Semibold" panose="020B0702040204020203" pitchFamily="34" charset="0"/>
              </a:rPr>
              <a:t>CRM Data Quality</a:t>
            </a:r>
          </a:p>
          <a:p>
            <a:pPr marR="0" lvl="0" algn="ctr"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Duplicates • </a:t>
            </a:r>
            <a:r>
              <a:rPr lang="en-US" altLang="en-US" sz="1200" dirty="0">
                <a:latin typeface="Segoe UI Semibold" panose="020B0702040204020203" pitchFamily="34" charset="0"/>
                <a:cs typeface="Segoe UI Semibold" panose="020B0702040204020203" pitchFamily="34" charset="0"/>
              </a:rPr>
              <a:t>Identity Resolution</a:t>
            </a:r>
            <a:endPar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3020987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AD60266-CBA7-43DD-A6F8-3FEB55010477}"/>
              </a:ext>
            </a:extLst>
          </p:cNvPr>
          <p:cNvSpPr>
            <a:spLocks noGrp="1" noChangeArrowheads="1"/>
          </p:cNvSpPr>
          <p:nvPr>
            <p:ph type="title"/>
          </p:nvPr>
        </p:nvSpPr>
        <p:spPr bwMode="auto">
          <a:xfrm>
            <a:off x="-12000" y="125045"/>
            <a:ext cx="122040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Funnel Performance Findings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38E63E7A-B772-49C0-9057-ECED6A5B8549}"/>
              </a:ext>
            </a:extLst>
          </p:cNvPr>
          <p:cNvSpPr/>
          <p:nvPr/>
        </p:nvSpPr>
        <p:spPr>
          <a:xfrm>
            <a:off x="9063729" y="788225"/>
            <a:ext cx="2160000" cy="900000"/>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411EBA7-F993-405D-A4EB-8EB49CA2ED36}"/>
              </a:ext>
            </a:extLst>
          </p:cNvPr>
          <p:cNvSpPr/>
          <p:nvPr/>
        </p:nvSpPr>
        <p:spPr>
          <a:xfrm>
            <a:off x="6132433" y="788225"/>
            <a:ext cx="2160000" cy="900000"/>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FEB5C800-6467-410C-AC17-06F6EB2246FE}"/>
              </a:ext>
            </a:extLst>
          </p:cNvPr>
          <p:cNvSpPr/>
          <p:nvPr/>
        </p:nvSpPr>
        <p:spPr>
          <a:xfrm>
            <a:off x="269841" y="788225"/>
            <a:ext cx="2160000" cy="900000"/>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Rectangle 8">
            <a:extLst>
              <a:ext uri="{FF2B5EF4-FFF2-40B4-BE49-F238E27FC236}">
                <a16:creationId xmlns:a16="http://schemas.microsoft.com/office/drawing/2014/main" id="{C3EB84CC-C7FB-4CDB-A7DE-8749426B0DF9}"/>
              </a:ext>
            </a:extLst>
          </p:cNvPr>
          <p:cNvSpPr/>
          <p:nvPr/>
        </p:nvSpPr>
        <p:spPr>
          <a:xfrm>
            <a:off x="3201137" y="788225"/>
            <a:ext cx="2160000" cy="900000"/>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FDED73CC-F039-45AD-9283-ABF89FE66889}"/>
              </a:ext>
            </a:extLst>
          </p:cNvPr>
          <p:cNvSpPr txBox="1"/>
          <p:nvPr/>
        </p:nvSpPr>
        <p:spPr>
          <a:xfrm>
            <a:off x="357652" y="827558"/>
            <a:ext cx="1934028" cy="769441"/>
          </a:xfrm>
          <a:prstGeom prst="rect">
            <a:avLst/>
          </a:prstGeom>
          <a:noFill/>
        </p:spPr>
        <p:txBody>
          <a:bodyPr wrap="square">
            <a:spAutoFit/>
          </a:bodyPr>
          <a:lstStyle/>
          <a:p>
            <a:pPr algn="ctr"/>
            <a:r>
              <a:rPr lang="en-IN" sz="2800" dirty="0">
                <a:latin typeface="Segoe UI Semibold" panose="020B0702040204020203" pitchFamily="34" charset="0"/>
                <a:cs typeface="Segoe UI Semibold" panose="020B0702040204020203" pitchFamily="34" charset="0"/>
              </a:rPr>
              <a:t>18,014</a:t>
            </a:r>
            <a:br>
              <a:rPr lang="en-IN" sz="2800" dirty="0">
                <a:latin typeface="Segoe UI Semibold" panose="020B0702040204020203" pitchFamily="34" charset="0"/>
                <a:cs typeface="Segoe UI Semibold" panose="020B0702040204020203" pitchFamily="34" charset="0"/>
              </a:rPr>
            </a:br>
            <a:r>
              <a:rPr lang="en-IN" sz="1600" dirty="0">
                <a:solidFill>
                  <a:srgbClr val="5F5F5F"/>
                </a:solidFill>
                <a:latin typeface="Segoe UI Semibold" panose="020B0702040204020203" pitchFamily="34" charset="0"/>
                <a:cs typeface="Segoe UI Semibold" panose="020B0702040204020203" pitchFamily="34" charset="0"/>
              </a:rPr>
              <a:t>Total Journeys</a:t>
            </a:r>
          </a:p>
        </p:txBody>
      </p:sp>
      <p:sp>
        <p:nvSpPr>
          <p:cNvPr id="12" name="TextBox 11">
            <a:extLst>
              <a:ext uri="{FF2B5EF4-FFF2-40B4-BE49-F238E27FC236}">
                <a16:creationId xmlns:a16="http://schemas.microsoft.com/office/drawing/2014/main" id="{B87A3D9C-72C7-4054-BC75-3766C13387EE}"/>
              </a:ext>
            </a:extLst>
          </p:cNvPr>
          <p:cNvSpPr txBox="1"/>
          <p:nvPr/>
        </p:nvSpPr>
        <p:spPr>
          <a:xfrm>
            <a:off x="3223158" y="812693"/>
            <a:ext cx="2166257" cy="769441"/>
          </a:xfrm>
          <a:prstGeom prst="rect">
            <a:avLst/>
          </a:prstGeom>
          <a:noFill/>
        </p:spPr>
        <p:txBody>
          <a:bodyPr wrap="square">
            <a:spAutoFit/>
          </a:bodyPr>
          <a:lstStyle/>
          <a:p>
            <a:pPr algn="ctr"/>
            <a:r>
              <a:rPr lang="en-IN" sz="2800" dirty="0">
                <a:latin typeface="Segoe UI Semibold" panose="020B0702040204020203" pitchFamily="34" charset="0"/>
                <a:cs typeface="Segoe UI Semibold" panose="020B0702040204020203" pitchFamily="34" charset="0"/>
              </a:rPr>
              <a:t>5,484</a:t>
            </a:r>
            <a:br>
              <a:rPr lang="en-IN" dirty="0">
                <a:latin typeface="Segoe UI Semibold" panose="020B0702040204020203" pitchFamily="34" charset="0"/>
                <a:cs typeface="Segoe UI Semibold" panose="020B0702040204020203" pitchFamily="34" charset="0"/>
              </a:rPr>
            </a:br>
            <a:r>
              <a:rPr lang="en-IN" sz="1600" dirty="0">
                <a:solidFill>
                  <a:srgbClr val="5F5F5F"/>
                </a:solidFill>
                <a:latin typeface="Segoe UI Semibold" panose="020B0702040204020203" pitchFamily="34" charset="0"/>
                <a:cs typeface="Segoe UI Semibold" panose="020B0702040204020203" pitchFamily="34" charset="0"/>
              </a:rPr>
              <a:t>Replied Journeys</a:t>
            </a:r>
          </a:p>
        </p:txBody>
      </p:sp>
      <p:sp>
        <p:nvSpPr>
          <p:cNvPr id="14" name="TextBox 13">
            <a:extLst>
              <a:ext uri="{FF2B5EF4-FFF2-40B4-BE49-F238E27FC236}">
                <a16:creationId xmlns:a16="http://schemas.microsoft.com/office/drawing/2014/main" id="{12EBAF23-85C8-48D9-A08E-D2C20152AE34}"/>
              </a:ext>
            </a:extLst>
          </p:cNvPr>
          <p:cNvSpPr txBox="1"/>
          <p:nvPr/>
        </p:nvSpPr>
        <p:spPr>
          <a:xfrm>
            <a:off x="6071247" y="845634"/>
            <a:ext cx="2282371" cy="769441"/>
          </a:xfrm>
          <a:prstGeom prst="rect">
            <a:avLst/>
          </a:prstGeom>
          <a:noFill/>
        </p:spPr>
        <p:txBody>
          <a:bodyPr wrap="square">
            <a:spAutoFit/>
          </a:bodyPr>
          <a:lstStyle/>
          <a:p>
            <a:pPr algn="ctr"/>
            <a:r>
              <a:rPr lang="en-IN" sz="2800" dirty="0">
                <a:latin typeface="Segoe UI Semibold" panose="020B0702040204020203" pitchFamily="34" charset="0"/>
                <a:cs typeface="Segoe UI Semibold" panose="020B0702040204020203" pitchFamily="34" charset="0"/>
              </a:rPr>
              <a:t>1,579</a:t>
            </a:r>
            <a:br>
              <a:rPr lang="en-IN" sz="2800" dirty="0">
                <a:latin typeface="Segoe UI Semibold" panose="020B0702040204020203" pitchFamily="34" charset="0"/>
                <a:cs typeface="Segoe UI Semibold" panose="020B0702040204020203" pitchFamily="34" charset="0"/>
              </a:rPr>
            </a:br>
            <a:r>
              <a:rPr lang="en-IN" sz="1600" dirty="0">
                <a:solidFill>
                  <a:srgbClr val="5F5F5F"/>
                </a:solidFill>
                <a:latin typeface="Segoe UI Semibold" panose="020B0702040204020203" pitchFamily="34" charset="0"/>
                <a:cs typeface="Segoe UI Semibold" panose="020B0702040204020203" pitchFamily="34" charset="0"/>
              </a:rPr>
              <a:t>Qualified Journeys</a:t>
            </a:r>
          </a:p>
        </p:txBody>
      </p:sp>
      <p:sp>
        <p:nvSpPr>
          <p:cNvPr id="16" name="TextBox 15">
            <a:extLst>
              <a:ext uri="{FF2B5EF4-FFF2-40B4-BE49-F238E27FC236}">
                <a16:creationId xmlns:a16="http://schemas.microsoft.com/office/drawing/2014/main" id="{B7288546-D643-4FDD-A164-671CB3A99A2A}"/>
              </a:ext>
            </a:extLst>
          </p:cNvPr>
          <p:cNvSpPr txBox="1"/>
          <p:nvPr/>
        </p:nvSpPr>
        <p:spPr>
          <a:xfrm>
            <a:off x="9133172" y="802816"/>
            <a:ext cx="2021114" cy="769441"/>
          </a:xfrm>
          <a:prstGeom prst="rect">
            <a:avLst/>
          </a:prstGeom>
          <a:noFill/>
        </p:spPr>
        <p:txBody>
          <a:bodyPr wrap="square">
            <a:spAutoFit/>
          </a:bodyPr>
          <a:lstStyle/>
          <a:p>
            <a:pPr algn="ctr"/>
            <a:r>
              <a:rPr lang="en-IN" sz="2800" dirty="0">
                <a:latin typeface="Segoe UI Semibold" panose="020B0702040204020203" pitchFamily="34" charset="0"/>
                <a:cs typeface="Segoe UI Semibold" panose="020B0702040204020203" pitchFamily="34" charset="0"/>
              </a:rPr>
              <a:t>718</a:t>
            </a:r>
            <a:br>
              <a:rPr lang="en-IN" sz="2800" dirty="0">
                <a:latin typeface="Segoe UI Semibold" panose="020B0702040204020203" pitchFamily="34" charset="0"/>
                <a:cs typeface="Segoe UI Semibold" panose="020B0702040204020203" pitchFamily="34" charset="0"/>
              </a:rPr>
            </a:br>
            <a:r>
              <a:rPr lang="en-IN" sz="1600" dirty="0">
                <a:solidFill>
                  <a:srgbClr val="5F5F5F"/>
                </a:solidFill>
                <a:latin typeface="Segoe UI Semibold" panose="020B0702040204020203" pitchFamily="34" charset="0"/>
                <a:cs typeface="Segoe UI Semibold" panose="020B0702040204020203" pitchFamily="34" charset="0"/>
              </a:rPr>
              <a:t>Converted Journeys</a:t>
            </a:r>
          </a:p>
        </p:txBody>
      </p:sp>
      <p:sp>
        <p:nvSpPr>
          <p:cNvPr id="17" name="Rectangle 16">
            <a:extLst>
              <a:ext uri="{FF2B5EF4-FFF2-40B4-BE49-F238E27FC236}">
                <a16:creationId xmlns:a16="http://schemas.microsoft.com/office/drawing/2014/main" id="{803C1F3A-606E-4CEE-9E22-84ABCA2E0CA3}"/>
              </a:ext>
            </a:extLst>
          </p:cNvPr>
          <p:cNvSpPr/>
          <p:nvPr/>
        </p:nvSpPr>
        <p:spPr>
          <a:xfrm>
            <a:off x="704270" y="1963057"/>
            <a:ext cx="10771459" cy="2931886"/>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77A25C08-D422-401C-BF3D-E4D7ED346238}"/>
              </a:ext>
            </a:extLst>
          </p:cNvPr>
          <p:cNvSpPr/>
          <p:nvPr/>
        </p:nvSpPr>
        <p:spPr>
          <a:xfrm>
            <a:off x="1079841" y="5266310"/>
            <a:ext cx="2700000" cy="1152000"/>
          </a:xfrm>
          <a:prstGeom prst="rect">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Rectangle 18">
            <a:extLst>
              <a:ext uri="{FF2B5EF4-FFF2-40B4-BE49-F238E27FC236}">
                <a16:creationId xmlns:a16="http://schemas.microsoft.com/office/drawing/2014/main" id="{73606A76-03C4-4EE3-92DD-C3AD4EA1226A}"/>
              </a:ext>
            </a:extLst>
          </p:cNvPr>
          <p:cNvSpPr/>
          <p:nvPr/>
        </p:nvSpPr>
        <p:spPr>
          <a:xfrm>
            <a:off x="4686137" y="5266310"/>
            <a:ext cx="2700000" cy="1152000"/>
          </a:xfrm>
          <a:prstGeom prst="rect">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19">
            <a:extLst>
              <a:ext uri="{FF2B5EF4-FFF2-40B4-BE49-F238E27FC236}">
                <a16:creationId xmlns:a16="http://schemas.microsoft.com/office/drawing/2014/main" id="{9B9416AE-380A-4039-B636-1C41C5E1AC6A}"/>
              </a:ext>
            </a:extLst>
          </p:cNvPr>
          <p:cNvSpPr/>
          <p:nvPr/>
        </p:nvSpPr>
        <p:spPr>
          <a:xfrm>
            <a:off x="8292433" y="5266310"/>
            <a:ext cx="2700000" cy="1152000"/>
          </a:xfrm>
          <a:prstGeom prst="rect">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9" name="Picture 28">
            <a:extLst>
              <a:ext uri="{FF2B5EF4-FFF2-40B4-BE49-F238E27FC236}">
                <a16:creationId xmlns:a16="http://schemas.microsoft.com/office/drawing/2014/main" id="{40D6EE3C-BCCA-4488-B403-6C3959665B17}"/>
              </a:ext>
            </a:extLst>
          </p:cNvPr>
          <p:cNvPicPr>
            <a:picLocks noChangeAspect="1"/>
          </p:cNvPicPr>
          <p:nvPr/>
        </p:nvPicPr>
        <p:blipFill>
          <a:blip r:embed="rId2"/>
          <a:stretch>
            <a:fillRect/>
          </a:stretch>
        </p:blipFill>
        <p:spPr>
          <a:xfrm>
            <a:off x="860345" y="2959593"/>
            <a:ext cx="10421804" cy="1619476"/>
          </a:xfrm>
          <a:prstGeom prst="rect">
            <a:avLst/>
          </a:prstGeom>
        </p:spPr>
      </p:pic>
      <p:sp>
        <p:nvSpPr>
          <p:cNvPr id="30" name="Rectangle 1">
            <a:extLst>
              <a:ext uri="{FF2B5EF4-FFF2-40B4-BE49-F238E27FC236}">
                <a16:creationId xmlns:a16="http://schemas.microsoft.com/office/drawing/2014/main" id="{D4CB4E50-D079-4E6F-87FB-78E53BBD755D}"/>
              </a:ext>
            </a:extLst>
          </p:cNvPr>
          <p:cNvSpPr>
            <a:spLocks noChangeArrowheads="1"/>
          </p:cNvSpPr>
          <p:nvPr/>
        </p:nvSpPr>
        <p:spPr bwMode="auto">
          <a:xfrm>
            <a:off x="4090244" y="2195271"/>
            <a:ext cx="396200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Journey Conversion Funnel</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endParaRPr>
          </a:p>
        </p:txBody>
      </p:sp>
      <p:sp>
        <p:nvSpPr>
          <p:cNvPr id="31" name="Rectangle 2">
            <a:extLst>
              <a:ext uri="{FF2B5EF4-FFF2-40B4-BE49-F238E27FC236}">
                <a16:creationId xmlns:a16="http://schemas.microsoft.com/office/drawing/2014/main" id="{CB236199-3460-47CB-A59A-B51402C7C1DF}"/>
              </a:ext>
            </a:extLst>
          </p:cNvPr>
          <p:cNvSpPr>
            <a:spLocks noChangeArrowheads="1"/>
          </p:cNvSpPr>
          <p:nvPr/>
        </p:nvSpPr>
        <p:spPr bwMode="auto">
          <a:xfrm>
            <a:off x="1772466" y="5259731"/>
            <a:ext cx="1332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Primary Leakage</a:t>
            </a:r>
            <a:endPar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3" name="TextBox 32">
            <a:extLst>
              <a:ext uri="{FF2B5EF4-FFF2-40B4-BE49-F238E27FC236}">
                <a16:creationId xmlns:a16="http://schemas.microsoft.com/office/drawing/2014/main" id="{977D43F3-A1A8-40A7-B054-F286CA1EDF6A}"/>
              </a:ext>
            </a:extLst>
          </p:cNvPr>
          <p:cNvSpPr txBox="1"/>
          <p:nvPr/>
        </p:nvSpPr>
        <p:spPr>
          <a:xfrm>
            <a:off x="1059639" y="5575605"/>
            <a:ext cx="2740403" cy="646331"/>
          </a:xfrm>
          <a:prstGeom prst="rect">
            <a:avLst/>
          </a:prstGeom>
          <a:noFill/>
        </p:spPr>
        <p:txBody>
          <a:bodyPr wrap="square">
            <a:spAutoFit/>
          </a:bodyPr>
          <a:lstStyle/>
          <a:p>
            <a:pPr algn="ctr"/>
            <a:r>
              <a:rPr lang="en-IN" dirty="0">
                <a:latin typeface="Segoe UI Semibold" panose="020B0702040204020203" pitchFamily="34" charset="0"/>
                <a:cs typeface="Segoe UI Semibold" panose="020B0702040204020203" pitchFamily="34" charset="0"/>
              </a:rPr>
              <a:t>71.2%</a:t>
            </a:r>
            <a:br>
              <a:rPr lang="en-IN" dirty="0">
                <a:latin typeface="Segoe UI Semibold" panose="020B0702040204020203" pitchFamily="34" charset="0"/>
                <a:cs typeface="Segoe UI Semibold" panose="020B0702040204020203" pitchFamily="34" charset="0"/>
              </a:rPr>
            </a:br>
            <a:r>
              <a:rPr lang="en-IN" dirty="0">
                <a:latin typeface="Segoe UI Semibold" panose="020B0702040204020203" pitchFamily="34" charset="0"/>
                <a:cs typeface="Segoe UI Semibold" panose="020B0702040204020203" pitchFamily="34" charset="0"/>
              </a:rPr>
              <a:t>Reply → Qualification</a:t>
            </a:r>
          </a:p>
        </p:txBody>
      </p:sp>
      <p:sp>
        <p:nvSpPr>
          <p:cNvPr id="36" name="Rectangle 3">
            <a:extLst>
              <a:ext uri="{FF2B5EF4-FFF2-40B4-BE49-F238E27FC236}">
                <a16:creationId xmlns:a16="http://schemas.microsoft.com/office/drawing/2014/main" id="{C078B84F-7275-4E7C-BFC0-CEE5186B832A}"/>
              </a:ext>
            </a:extLst>
          </p:cNvPr>
          <p:cNvSpPr>
            <a:spLocks noChangeArrowheads="1"/>
          </p:cNvSpPr>
          <p:nvPr/>
        </p:nvSpPr>
        <p:spPr bwMode="auto">
          <a:xfrm>
            <a:off x="5066894" y="5281358"/>
            <a:ext cx="200870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Qualification Quality</a:t>
            </a:r>
            <a:endPar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endParaRPr>
          </a:p>
        </p:txBody>
      </p:sp>
      <p:sp>
        <p:nvSpPr>
          <p:cNvPr id="37" name="Rectangle 4">
            <a:extLst>
              <a:ext uri="{FF2B5EF4-FFF2-40B4-BE49-F238E27FC236}">
                <a16:creationId xmlns:a16="http://schemas.microsoft.com/office/drawing/2014/main" id="{ECEC26FA-BED1-430E-9B08-5E665FB198A3}"/>
              </a:ext>
            </a:extLst>
          </p:cNvPr>
          <p:cNvSpPr>
            <a:spLocks noChangeArrowheads="1"/>
          </p:cNvSpPr>
          <p:nvPr/>
        </p:nvSpPr>
        <p:spPr bwMode="auto">
          <a:xfrm>
            <a:off x="8858046" y="5259730"/>
            <a:ext cx="1561488"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Key Finding</a:t>
            </a:r>
            <a:endParaRPr kumimoji="0" lang="en-US" altLang="en-US" sz="12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8" name="Rectangle 5">
            <a:extLst>
              <a:ext uri="{FF2B5EF4-FFF2-40B4-BE49-F238E27FC236}">
                <a16:creationId xmlns:a16="http://schemas.microsoft.com/office/drawing/2014/main" id="{87B02BD5-3992-46ED-BEF0-602BB441FBFA}"/>
              </a:ext>
            </a:extLst>
          </p:cNvPr>
          <p:cNvSpPr>
            <a:spLocks noChangeArrowheads="1"/>
          </p:cNvSpPr>
          <p:nvPr/>
        </p:nvSpPr>
        <p:spPr bwMode="auto">
          <a:xfrm>
            <a:off x="4703246" y="5745775"/>
            <a:ext cx="2736000" cy="6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45.5%</a:t>
            </a:r>
            <a:br>
              <a:rPr kumimoji="0" lang="en-US" altLang="en-US"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br>
            <a:r>
              <a:rPr kumimoji="0" lang="en-US" altLang="en-US"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Qualified → Converted</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0" name="TextBox 39">
            <a:extLst>
              <a:ext uri="{FF2B5EF4-FFF2-40B4-BE49-F238E27FC236}">
                <a16:creationId xmlns:a16="http://schemas.microsoft.com/office/drawing/2014/main" id="{E4DE5501-493C-462C-908C-80DED6E36929}"/>
              </a:ext>
            </a:extLst>
          </p:cNvPr>
          <p:cNvSpPr txBox="1"/>
          <p:nvPr/>
        </p:nvSpPr>
        <p:spPr>
          <a:xfrm>
            <a:off x="8595589" y="5529731"/>
            <a:ext cx="2271932" cy="830997"/>
          </a:xfrm>
          <a:prstGeom prst="rect">
            <a:avLst/>
          </a:prstGeom>
          <a:noFill/>
        </p:spPr>
        <p:txBody>
          <a:bodyPr wrap="square">
            <a:spAutoFit/>
          </a:bodyPr>
          <a:lstStyle/>
          <a:p>
            <a:r>
              <a:rPr lang="en-US" sz="1200" b="1" dirty="0">
                <a:latin typeface="Segoe UI" panose="020B0502040204020203" pitchFamily="34" charset="0"/>
                <a:cs typeface="Segoe UI" panose="020B0502040204020203" pitchFamily="34" charset="0"/>
              </a:rPr>
              <a:t>Qualification quality,</a:t>
            </a:r>
            <a:br>
              <a:rPr lang="en-US" sz="1200" b="1" dirty="0">
                <a:latin typeface="Segoe UI" panose="020B0502040204020203" pitchFamily="34" charset="0"/>
                <a:cs typeface="Segoe UI" panose="020B0502040204020203" pitchFamily="34" charset="0"/>
              </a:rPr>
            </a:br>
            <a:r>
              <a:rPr lang="en-US" sz="1200" b="1" dirty="0">
                <a:latin typeface="Segoe UI" panose="020B0502040204020203" pitchFamily="34" charset="0"/>
                <a:cs typeface="Segoe UI" panose="020B0502040204020203" pitchFamily="34" charset="0"/>
              </a:rPr>
              <a:t>not outreach volume,</a:t>
            </a:r>
            <a:br>
              <a:rPr lang="en-US" sz="1200" b="1" dirty="0">
                <a:latin typeface="Segoe UI" panose="020B0502040204020203" pitchFamily="34" charset="0"/>
                <a:cs typeface="Segoe UI" panose="020B0502040204020203" pitchFamily="34" charset="0"/>
              </a:rPr>
            </a:br>
            <a:r>
              <a:rPr lang="en-US" sz="1200" b="1" dirty="0">
                <a:latin typeface="Segoe UI" panose="020B0502040204020203" pitchFamily="34" charset="0"/>
                <a:cs typeface="Segoe UI" panose="020B0502040204020203" pitchFamily="34" charset="0"/>
              </a:rPr>
              <a:t>is the strongest predictor</a:t>
            </a:r>
            <a:br>
              <a:rPr lang="en-US" sz="1200" b="1" dirty="0">
                <a:latin typeface="Segoe UI" panose="020B0502040204020203" pitchFamily="34" charset="0"/>
                <a:cs typeface="Segoe UI" panose="020B0502040204020203" pitchFamily="34" charset="0"/>
              </a:rPr>
            </a:br>
            <a:r>
              <a:rPr lang="en-US" sz="1200" b="1" dirty="0">
                <a:latin typeface="Segoe UI" panose="020B0502040204020203" pitchFamily="34" charset="0"/>
                <a:cs typeface="Segoe UI" panose="020B0502040204020203" pitchFamily="34" charset="0"/>
              </a:rPr>
              <a:t>of conversion.</a:t>
            </a:r>
            <a:endParaRPr lang="en-IN" sz="1200"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08117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B9DCDE7-E328-441D-A2D7-EDD695B47114}"/>
              </a:ext>
            </a:extLst>
          </p:cNvPr>
          <p:cNvSpPr>
            <a:spLocks noGrp="1" noChangeArrowheads="1"/>
          </p:cNvSpPr>
          <p:nvPr>
            <p:ph type="title"/>
          </p:nvPr>
        </p:nvSpPr>
        <p:spPr bwMode="auto">
          <a:xfrm>
            <a:off x="-12000" y="136935"/>
            <a:ext cx="12204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Sender Overlap &amp; CRM Duplication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A22409DD-C1D6-4920-A799-BEADFFB0B999}"/>
              </a:ext>
            </a:extLst>
          </p:cNvPr>
          <p:cNvSpPr/>
          <p:nvPr/>
        </p:nvSpPr>
        <p:spPr>
          <a:xfrm>
            <a:off x="257756" y="788225"/>
            <a:ext cx="2664000" cy="936000"/>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13BF51DE-9F75-4E66-B33B-F4DAC1CC72F9}"/>
              </a:ext>
            </a:extLst>
          </p:cNvPr>
          <p:cNvSpPr/>
          <p:nvPr/>
        </p:nvSpPr>
        <p:spPr>
          <a:xfrm>
            <a:off x="7614244" y="788225"/>
            <a:ext cx="2664000" cy="936000"/>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63782B11-33CA-43B1-8B7A-EEC63C2710E3}"/>
              </a:ext>
            </a:extLst>
          </p:cNvPr>
          <p:cNvSpPr/>
          <p:nvPr/>
        </p:nvSpPr>
        <p:spPr>
          <a:xfrm>
            <a:off x="3936000" y="788225"/>
            <a:ext cx="2664000" cy="936000"/>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63C353AC-6A14-4A84-8D66-60A002B4B197}"/>
              </a:ext>
            </a:extLst>
          </p:cNvPr>
          <p:cNvSpPr txBox="1"/>
          <p:nvPr/>
        </p:nvSpPr>
        <p:spPr>
          <a:xfrm>
            <a:off x="678873" y="957511"/>
            <a:ext cx="1821765" cy="892552"/>
          </a:xfrm>
          <a:prstGeom prst="rect">
            <a:avLst/>
          </a:prstGeom>
          <a:noFill/>
        </p:spPr>
        <p:txBody>
          <a:bodyPr wrap="square">
            <a:spAutoFit/>
          </a:bodyPr>
          <a:lstStyle/>
          <a:p>
            <a:pPr algn="ctr"/>
            <a:r>
              <a:rPr lang="en-IN" sz="2000" dirty="0">
                <a:latin typeface="Segoe UI Semibold" panose="020B0702040204020203" pitchFamily="34" charset="0"/>
                <a:cs typeface="Segoe UI Semibold" panose="020B0702040204020203" pitchFamily="34" charset="0"/>
              </a:rPr>
              <a:t>72.5%</a:t>
            </a:r>
            <a:br>
              <a:rPr lang="en-IN" sz="2000" dirty="0">
                <a:latin typeface="Segoe UI Semibold" panose="020B0702040204020203" pitchFamily="34" charset="0"/>
                <a:cs typeface="Segoe UI Semibold" panose="020B0702040204020203" pitchFamily="34" charset="0"/>
              </a:rPr>
            </a:br>
            <a:r>
              <a:rPr lang="en-IN" sz="1200" dirty="0">
                <a:latin typeface="Segoe UI Semibold" panose="020B0702040204020203" pitchFamily="34" charset="0"/>
                <a:cs typeface="Segoe UI Semibold" panose="020B0702040204020203" pitchFamily="34" charset="0"/>
              </a:rPr>
              <a:t>Sender Overlap Rate</a:t>
            </a:r>
            <a:br>
              <a:rPr lang="en-IN" sz="2000" dirty="0">
                <a:latin typeface="Segoe UI Semibold" panose="020B0702040204020203" pitchFamily="34" charset="0"/>
                <a:cs typeface="Segoe UI Semibold" panose="020B0702040204020203" pitchFamily="34" charset="0"/>
              </a:rPr>
            </a:br>
            <a:endParaRPr lang="en-IN" sz="2000" dirty="0">
              <a:latin typeface="Segoe UI Semibold" panose="020B0702040204020203" pitchFamily="34" charset="0"/>
              <a:cs typeface="Segoe UI Semibold" panose="020B0702040204020203" pitchFamily="34" charset="0"/>
            </a:endParaRPr>
          </a:p>
        </p:txBody>
      </p:sp>
      <p:sp>
        <p:nvSpPr>
          <p:cNvPr id="9" name="TextBox 8">
            <a:extLst>
              <a:ext uri="{FF2B5EF4-FFF2-40B4-BE49-F238E27FC236}">
                <a16:creationId xmlns:a16="http://schemas.microsoft.com/office/drawing/2014/main" id="{6EEDD4B7-70A6-4ACF-AF01-DD6AD009ADBB}"/>
              </a:ext>
            </a:extLst>
          </p:cNvPr>
          <p:cNvSpPr txBox="1"/>
          <p:nvPr/>
        </p:nvSpPr>
        <p:spPr>
          <a:xfrm>
            <a:off x="4349961" y="948448"/>
            <a:ext cx="1878036" cy="584775"/>
          </a:xfrm>
          <a:prstGeom prst="rect">
            <a:avLst/>
          </a:prstGeom>
          <a:noFill/>
        </p:spPr>
        <p:txBody>
          <a:bodyPr wrap="square">
            <a:spAutoFit/>
          </a:bodyPr>
          <a:lstStyle/>
          <a:p>
            <a:pPr algn="ctr"/>
            <a:r>
              <a:rPr lang="en-IN" sz="2000" dirty="0">
                <a:latin typeface="Segoe UI Semibold" panose="020B0702040204020203" pitchFamily="34" charset="0"/>
                <a:cs typeface="Segoe UI Semibold" panose="020B0702040204020203" pitchFamily="34" charset="0"/>
              </a:rPr>
              <a:t>0.27 pp</a:t>
            </a:r>
            <a:br>
              <a:rPr lang="en-IN" sz="2000" dirty="0">
                <a:latin typeface="Segoe UI Semibold" panose="020B0702040204020203" pitchFamily="34" charset="0"/>
                <a:cs typeface="Segoe UI Semibold" panose="020B0702040204020203" pitchFamily="34" charset="0"/>
              </a:rPr>
            </a:br>
            <a:r>
              <a:rPr lang="en-IN" sz="1200" dirty="0">
                <a:latin typeface="Segoe UI Semibold" panose="020B0702040204020203" pitchFamily="34" charset="0"/>
                <a:cs typeface="Segoe UI Semibold" panose="020B0702040204020203" pitchFamily="34" charset="0"/>
              </a:rPr>
              <a:t>Conversion Delta</a:t>
            </a:r>
          </a:p>
        </p:txBody>
      </p:sp>
      <p:sp>
        <p:nvSpPr>
          <p:cNvPr id="11" name="TextBox 10">
            <a:extLst>
              <a:ext uri="{FF2B5EF4-FFF2-40B4-BE49-F238E27FC236}">
                <a16:creationId xmlns:a16="http://schemas.microsoft.com/office/drawing/2014/main" id="{206B27F4-0662-4FB0-851A-486117126F28}"/>
              </a:ext>
            </a:extLst>
          </p:cNvPr>
          <p:cNvSpPr txBox="1"/>
          <p:nvPr/>
        </p:nvSpPr>
        <p:spPr>
          <a:xfrm>
            <a:off x="7929853" y="948447"/>
            <a:ext cx="2032781" cy="584775"/>
          </a:xfrm>
          <a:prstGeom prst="rect">
            <a:avLst/>
          </a:prstGeom>
          <a:noFill/>
        </p:spPr>
        <p:txBody>
          <a:bodyPr wrap="square">
            <a:spAutoFit/>
          </a:bodyPr>
          <a:lstStyle/>
          <a:p>
            <a:pPr algn="ctr"/>
            <a:r>
              <a:rPr lang="en-IN" sz="2000" dirty="0">
                <a:latin typeface="Segoe UI Semibold" panose="020B0702040204020203" pitchFamily="34" charset="0"/>
                <a:cs typeface="Segoe UI Semibold" panose="020B0702040204020203" pitchFamily="34" charset="0"/>
              </a:rPr>
              <a:t>47.4%</a:t>
            </a:r>
            <a:br>
              <a:rPr lang="en-IN" sz="2000" dirty="0">
                <a:latin typeface="Segoe UI Semibold" panose="020B0702040204020203" pitchFamily="34" charset="0"/>
                <a:cs typeface="Segoe UI Semibold" panose="020B0702040204020203" pitchFamily="34" charset="0"/>
              </a:rPr>
            </a:br>
            <a:r>
              <a:rPr lang="en-IN" sz="1200" dirty="0">
                <a:latin typeface="Segoe UI Semibold" panose="020B0702040204020203" pitchFamily="34" charset="0"/>
                <a:cs typeface="Segoe UI Semibold" panose="020B0702040204020203" pitchFamily="34" charset="0"/>
              </a:rPr>
              <a:t>CRM Duplication Rate</a:t>
            </a:r>
          </a:p>
        </p:txBody>
      </p:sp>
      <p:sp>
        <p:nvSpPr>
          <p:cNvPr id="12" name="Rectangle 11">
            <a:extLst>
              <a:ext uri="{FF2B5EF4-FFF2-40B4-BE49-F238E27FC236}">
                <a16:creationId xmlns:a16="http://schemas.microsoft.com/office/drawing/2014/main" id="{08276E88-760D-4195-A2F6-13804204082A}"/>
              </a:ext>
            </a:extLst>
          </p:cNvPr>
          <p:cNvSpPr/>
          <p:nvPr/>
        </p:nvSpPr>
        <p:spPr>
          <a:xfrm>
            <a:off x="478302" y="1997612"/>
            <a:ext cx="5975815" cy="2952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AB88E59D-972E-4A0D-AEAC-F2C6F8E20D2C}"/>
              </a:ext>
            </a:extLst>
          </p:cNvPr>
          <p:cNvSpPr/>
          <p:nvPr/>
        </p:nvSpPr>
        <p:spPr>
          <a:xfrm>
            <a:off x="7282739" y="1997612"/>
            <a:ext cx="4500000" cy="258764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CA1E353D-2744-491D-AB2F-E9F0CAAAB166}"/>
              </a:ext>
            </a:extLst>
          </p:cNvPr>
          <p:cNvSpPr/>
          <p:nvPr/>
        </p:nvSpPr>
        <p:spPr>
          <a:xfrm>
            <a:off x="478302" y="5505129"/>
            <a:ext cx="11235396" cy="1018198"/>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a:extLst>
              <a:ext uri="{FF2B5EF4-FFF2-40B4-BE49-F238E27FC236}">
                <a16:creationId xmlns:a16="http://schemas.microsoft.com/office/drawing/2014/main" id="{A66FB983-9218-4A2F-BD2A-B16576E7BCC0}"/>
              </a:ext>
            </a:extLst>
          </p:cNvPr>
          <p:cNvPicPr>
            <a:picLocks noChangeAspect="1"/>
          </p:cNvPicPr>
          <p:nvPr/>
        </p:nvPicPr>
        <p:blipFill>
          <a:blip r:embed="rId2"/>
          <a:stretch>
            <a:fillRect/>
          </a:stretch>
        </p:blipFill>
        <p:spPr>
          <a:xfrm>
            <a:off x="792116" y="2553128"/>
            <a:ext cx="5278339" cy="2142736"/>
          </a:xfrm>
          <a:prstGeom prst="rect">
            <a:avLst/>
          </a:prstGeom>
        </p:spPr>
      </p:pic>
      <p:sp>
        <p:nvSpPr>
          <p:cNvPr id="17" name="Rectangle 1">
            <a:extLst>
              <a:ext uri="{FF2B5EF4-FFF2-40B4-BE49-F238E27FC236}">
                <a16:creationId xmlns:a16="http://schemas.microsoft.com/office/drawing/2014/main" id="{3F6045BA-F30B-4BD1-9471-E3A4425E4B35}"/>
              </a:ext>
            </a:extLst>
          </p:cNvPr>
          <p:cNvSpPr>
            <a:spLocks noChangeArrowheads="1"/>
          </p:cNvSpPr>
          <p:nvPr/>
        </p:nvSpPr>
        <p:spPr bwMode="auto">
          <a:xfrm>
            <a:off x="1620738" y="2052349"/>
            <a:ext cx="463052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Performance Comparison Matrix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2">
            <a:extLst>
              <a:ext uri="{FF2B5EF4-FFF2-40B4-BE49-F238E27FC236}">
                <a16:creationId xmlns:a16="http://schemas.microsoft.com/office/drawing/2014/main" id="{E87CF680-142E-4182-9C8E-8DD9D179DC9D}"/>
              </a:ext>
            </a:extLst>
          </p:cNvPr>
          <p:cNvSpPr>
            <a:spLocks noChangeArrowheads="1"/>
          </p:cNvSpPr>
          <p:nvPr/>
        </p:nvSpPr>
        <p:spPr bwMode="auto">
          <a:xfrm>
            <a:off x="7591397" y="2068101"/>
            <a:ext cx="3882684" cy="1031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CRM Duplication Impact</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Identity Exposure Comparison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endParaRPr>
          </a:p>
        </p:txBody>
      </p:sp>
      <p:pic>
        <p:nvPicPr>
          <p:cNvPr id="20" name="Picture 19">
            <a:extLst>
              <a:ext uri="{FF2B5EF4-FFF2-40B4-BE49-F238E27FC236}">
                <a16:creationId xmlns:a16="http://schemas.microsoft.com/office/drawing/2014/main" id="{A21EE8C9-E3F9-4EBA-A240-3CD97A3B3680}"/>
              </a:ext>
            </a:extLst>
          </p:cNvPr>
          <p:cNvPicPr>
            <a:picLocks noChangeAspect="1"/>
          </p:cNvPicPr>
          <p:nvPr/>
        </p:nvPicPr>
        <p:blipFill>
          <a:blip r:embed="rId3"/>
          <a:stretch>
            <a:fillRect/>
          </a:stretch>
        </p:blipFill>
        <p:spPr>
          <a:xfrm>
            <a:off x="7282739" y="2748356"/>
            <a:ext cx="4500000" cy="1732642"/>
          </a:xfrm>
          <a:prstGeom prst="rect">
            <a:avLst/>
          </a:prstGeom>
        </p:spPr>
      </p:pic>
      <p:sp>
        <p:nvSpPr>
          <p:cNvPr id="22" name="TextBox 21">
            <a:extLst>
              <a:ext uri="{FF2B5EF4-FFF2-40B4-BE49-F238E27FC236}">
                <a16:creationId xmlns:a16="http://schemas.microsoft.com/office/drawing/2014/main" id="{195AA743-A111-4AA1-8AA3-B203480B781A}"/>
              </a:ext>
            </a:extLst>
          </p:cNvPr>
          <p:cNvSpPr txBox="1"/>
          <p:nvPr/>
        </p:nvSpPr>
        <p:spPr>
          <a:xfrm>
            <a:off x="472302" y="5624026"/>
            <a:ext cx="11235396" cy="830997"/>
          </a:xfrm>
          <a:prstGeom prst="rect">
            <a:avLst/>
          </a:prstGeom>
          <a:noFill/>
        </p:spPr>
        <p:txBody>
          <a:bodyPr wrap="square">
            <a:spAutoFit/>
          </a:bodyPr>
          <a:lstStyle/>
          <a:p>
            <a:r>
              <a:rPr lang="en-US" sz="1600" b="1" dirty="0">
                <a:latin typeface="Segoe UI" panose="020B0502040204020203" pitchFamily="34" charset="0"/>
                <a:cs typeface="Segoe UI" panose="020B0502040204020203" pitchFamily="34" charset="0"/>
              </a:rPr>
              <a:t>• 72.5% sender overlap exists, yet conversion differs by only 0.27 percentage points.</a:t>
            </a:r>
            <a:br>
              <a:rPr lang="en-US" sz="1600" b="1" dirty="0">
                <a:latin typeface="Segoe UI" panose="020B0502040204020203" pitchFamily="34" charset="0"/>
                <a:cs typeface="Segoe UI" panose="020B0502040204020203" pitchFamily="34" charset="0"/>
              </a:rPr>
            </a:br>
            <a:r>
              <a:rPr lang="en-US" sz="1600" b="1" dirty="0">
                <a:latin typeface="Segoe UI" panose="020B0502040204020203" pitchFamily="34" charset="0"/>
                <a:cs typeface="Segoe UI" panose="020B0502040204020203" pitchFamily="34" charset="0"/>
              </a:rPr>
              <a:t>• CRM duplication is the root cause of fragmented ownership and multi-sender exposure.</a:t>
            </a:r>
            <a:br>
              <a:rPr lang="en-US" sz="1600" b="1" dirty="0">
                <a:latin typeface="Segoe UI" panose="020B0502040204020203" pitchFamily="34" charset="0"/>
                <a:cs typeface="Segoe UI" panose="020B0502040204020203" pitchFamily="34" charset="0"/>
              </a:rPr>
            </a:br>
            <a:r>
              <a:rPr lang="en-US" sz="1600" b="1" dirty="0">
                <a:latin typeface="Segoe UI" panose="020B0502040204020203" pitchFamily="34" charset="0"/>
                <a:cs typeface="Segoe UI" panose="020B0502040204020203" pitchFamily="34" charset="0"/>
              </a:rPr>
              <a:t>• Overlap is primarily an operational coordination issue rather than a measurable conversion performance issue.</a:t>
            </a:r>
            <a:endParaRPr lang="en-IN" sz="1600" b="1" dirty="0">
              <a:latin typeface="Segoe UI" panose="020B0502040204020203" pitchFamily="34" charset="0"/>
              <a:cs typeface="Segoe UI" panose="020B0502040204020203" pitchFamily="34" charset="0"/>
            </a:endParaRPr>
          </a:p>
        </p:txBody>
      </p:sp>
      <p:sp>
        <p:nvSpPr>
          <p:cNvPr id="23" name="Rectangle 3">
            <a:extLst>
              <a:ext uri="{FF2B5EF4-FFF2-40B4-BE49-F238E27FC236}">
                <a16:creationId xmlns:a16="http://schemas.microsoft.com/office/drawing/2014/main" id="{562C0EA6-D1CB-4F7A-978C-4A049A65E20A}"/>
              </a:ext>
            </a:extLst>
          </p:cNvPr>
          <p:cNvSpPr>
            <a:spLocks noChangeArrowheads="1"/>
          </p:cNvSpPr>
          <p:nvPr/>
        </p:nvSpPr>
        <p:spPr bwMode="auto">
          <a:xfrm>
            <a:off x="928468" y="5130732"/>
            <a:ext cx="5671532"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sng" strike="noStrike" cap="none" normalizeH="0" baseline="0" dirty="0">
                <a:ln>
                  <a:noFill/>
                </a:ln>
                <a:solidFill>
                  <a:schemeClr val="tx1"/>
                </a:solidFill>
                <a:effectLst/>
                <a:latin typeface="Segoe UI" panose="020B0502040204020203" pitchFamily="34" charset="0"/>
                <a:cs typeface="Segoe UI" panose="020B0502040204020203" pitchFamily="34" charset="0"/>
              </a:rPr>
              <a:t>Executive Interpretation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3653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E895002-8D5B-4A98-8079-8BF222C9D0D6}"/>
              </a:ext>
            </a:extLst>
          </p:cNvPr>
          <p:cNvSpPr>
            <a:spLocks noGrp="1" noChangeArrowheads="1"/>
          </p:cNvSpPr>
          <p:nvPr>
            <p:ph type="title"/>
          </p:nvPr>
        </p:nvSpPr>
        <p:spPr bwMode="auto">
          <a:xfrm>
            <a:off x="-12000" y="98696"/>
            <a:ext cx="122040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Response Quality &amp; Outreach Efficiency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8DA1CA16-EE08-4113-988D-06482D432FD7}"/>
              </a:ext>
            </a:extLst>
          </p:cNvPr>
          <p:cNvSpPr/>
          <p:nvPr/>
        </p:nvSpPr>
        <p:spPr>
          <a:xfrm>
            <a:off x="452432" y="837360"/>
            <a:ext cx="5220000" cy="3528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4AA3F6C9-82CB-4658-8B7A-6F2D381DB46B}"/>
              </a:ext>
            </a:extLst>
          </p:cNvPr>
          <p:cNvSpPr/>
          <p:nvPr/>
        </p:nvSpPr>
        <p:spPr>
          <a:xfrm>
            <a:off x="6201784" y="837359"/>
            <a:ext cx="5220000" cy="3528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C2E4A84-6490-4FA7-BD3E-D0F04C4475C1}"/>
              </a:ext>
            </a:extLst>
          </p:cNvPr>
          <p:cNvSpPr txBox="1"/>
          <p:nvPr/>
        </p:nvSpPr>
        <p:spPr>
          <a:xfrm>
            <a:off x="1652954" y="837360"/>
            <a:ext cx="2413161" cy="400110"/>
          </a:xfrm>
          <a:prstGeom prst="rect">
            <a:avLst/>
          </a:prstGeom>
          <a:noFill/>
        </p:spPr>
        <p:txBody>
          <a:bodyPr wrap="square">
            <a:spAutoFit/>
          </a:bodyPr>
          <a:lstStyle/>
          <a:p>
            <a:r>
              <a:rPr lang="en-IN" sz="2000" b="1" dirty="0">
                <a:latin typeface="Segoe UI Semibold" panose="020B0702040204020203" pitchFamily="34" charset="0"/>
                <a:cs typeface="Segoe UI Semibold" panose="020B0702040204020203" pitchFamily="34" charset="0"/>
              </a:rPr>
              <a:t>Response Quality</a:t>
            </a:r>
          </a:p>
        </p:txBody>
      </p:sp>
      <p:sp>
        <p:nvSpPr>
          <p:cNvPr id="8" name="TextBox 7">
            <a:extLst>
              <a:ext uri="{FF2B5EF4-FFF2-40B4-BE49-F238E27FC236}">
                <a16:creationId xmlns:a16="http://schemas.microsoft.com/office/drawing/2014/main" id="{2F0A9D32-D13F-4650-8648-1870B8E629A9}"/>
              </a:ext>
            </a:extLst>
          </p:cNvPr>
          <p:cNvSpPr txBox="1"/>
          <p:nvPr/>
        </p:nvSpPr>
        <p:spPr>
          <a:xfrm>
            <a:off x="8125885" y="837360"/>
            <a:ext cx="2413161" cy="400110"/>
          </a:xfrm>
          <a:prstGeom prst="rect">
            <a:avLst/>
          </a:prstGeom>
          <a:noFill/>
        </p:spPr>
        <p:txBody>
          <a:bodyPr wrap="square">
            <a:spAutoFit/>
          </a:bodyPr>
          <a:lstStyle/>
          <a:p>
            <a:r>
              <a:rPr lang="en-IN" sz="2000" b="1" dirty="0">
                <a:latin typeface="Segoe UI Semibold" panose="020B0702040204020203" pitchFamily="34" charset="0"/>
                <a:cs typeface="Segoe UI Semibold" panose="020B0702040204020203" pitchFamily="34" charset="0"/>
              </a:rPr>
              <a:t>Outreach Efficiency</a:t>
            </a:r>
          </a:p>
        </p:txBody>
      </p:sp>
      <p:pic>
        <p:nvPicPr>
          <p:cNvPr id="10" name="Picture 9">
            <a:extLst>
              <a:ext uri="{FF2B5EF4-FFF2-40B4-BE49-F238E27FC236}">
                <a16:creationId xmlns:a16="http://schemas.microsoft.com/office/drawing/2014/main" id="{432FE2B0-28D2-4293-8750-339CD2FC94E3}"/>
              </a:ext>
            </a:extLst>
          </p:cNvPr>
          <p:cNvPicPr>
            <a:picLocks noChangeAspect="1"/>
          </p:cNvPicPr>
          <p:nvPr/>
        </p:nvPicPr>
        <p:blipFill>
          <a:blip r:embed="rId2"/>
          <a:stretch>
            <a:fillRect/>
          </a:stretch>
        </p:blipFill>
        <p:spPr>
          <a:xfrm>
            <a:off x="677695" y="1237470"/>
            <a:ext cx="4641351" cy="2977631"/>
          </a:xfrm>
          <a:prstGeom prst="rect">
            <a:avLst/>
          </a:prstGeom>
        </p:spPr>
      </p:pic>
      <p:pic>
        <p:nvPicPr>
          <p:cNvPr id="12" name="Picture 11">
            <a:extLst>
              <a:ext uri="{FF2B5EF4-FFF2-40B4-BE49-F238E27FC236}">
                <a16:creationId xmlns:a16="http://schemas.microsoft.com/office/drawing/2014/main" id="{D1E23756-9A04-4FCC-B6C4-399D00B125F2}"/>
              </a:ext>
            </a:extLst>
          </p:cNvPr>
          <p:cNvPicPr>
            <a:picLocks noChangeAspect="1"/>
          </p:cNvPicPr>
          <p:nvPr/>
        </p:nvPicPr>
        <p:blipFill>
          <a:blip r:embed="rId3"/>
          <a:stretch>
            <a:fillRect/>
          </a:stretch>
        </p:blipFill>
        <p:spPr>
          <a:xfrm>
            <a:off x="6362015" y="1304710"/>
            <a:ext cx="4899538" cy="2977631"/>
          </a:xfrm>
          <a:prstGeom prst="rect">
            <a:avLst/>
          </a:prstGeom>
        </p:spPr>
      </p:pic>
      <p:sp>
        <p:nvSpPr>
          <p:cNvPr id="13" name="Rectangle 12">
            <a:extLst>
              <a:ext uri="{FF2B5EF4-FFF2-40B4-BE49-F238E27FC236}">
                <a16:creationId xmlns:a16="http://schemas.microsoft.com/office/drawing/2014/main" id="{BE9FC1F3-AF4B-4B2D-B2CC-B0C956134E50}"/>
              </a:ext>
            </a:extLst>
          </p:cNvPr>
          <p:cNvSpPr/>
          <p:nvPr/>
        </p:nvSpPr>
        <p:spPr>
          <a:xfrm>
            <a:off x="339890" y="5084615"/>
            <a:ext cx="9038492" cy="1147373"/>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Rectangle 1">
            <a:extLst>
              <a:ext uri="{FF2B5EF4-FFF2-40B4-BE49-F238E27FC236}">
                <a16:creationId xmlns:a16="http://schemas.microsoft.com/office/drawing/2014/main" id="{E5055D55-33B7-49DE-A7C7-E3412F8B470C}"/>
              </a:ext>
            </a:extLst>
          </p:cNvPr>
          <p:cNvSpPr>
            <a:spLocks noChangeArrowheads="1"/>
          </p:cNvSpPr>
          <p:nvPr/>
        </p:nvSpPr>
        <p:spPr bwMode="auto">
          <a:xfrm>
            <a:off x="402583" y="4641968"/>
            <a:ext cx="278051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rPr>
              <a:t>Key Business Insight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Segoe UI Semibold" panose="020B0702040204020203" pitchFamily="34" charset="0"/>
              <a:cs typeface="Segoe UI Semibold" panose="020B0702040204020203" pitchFamily="34" charset="0"/>
            </a:endParaRPr>
          </a:p>
        </p:txBody>
      </p:sp>
      <p:sp>
        <p:nvSpPr>
          <p:cNvPr id="16" name="TextBox 15">
            <a:extLst>
              <a:ext uri="{FF2B5EF4-FFF2-40B4-BE49-F238E27FC236}">
                <a16:creationId xmlns:a16="http://schemas.microsoft.com/office/drawing/2014/main" id="{5F43617E-CF38-4709-872A-773EB7E4FC2D}"/>
              </a:ext>
            </a:extLst>
          </p:cNvPr>
          <p:cNvSpPr txBox="1"/>
          <p:nvPr/>
        </p:nvSpPr>
        <p:spPr>
          <a:xfrm>
            <a:off x="452432" y="5176081"/>
            <a:ext cx="8731325" cy="888898"/>
          </a:xfrm>
          <a:prstGeom prst="rect">
            <a:avLst/>
          </a:prstGeom>
          <a:noFill/>
        </p:spPr>
        <p:txBody>
          <a:bodyPr wrap="square">
            <a:spAutoFit/>
          </a:bodyPr>
          <a:lstStyle/>
          <a:p>
            <a:pPr>
              <a:lnSpc>
                <a:spcPct val="150000"/>
              </a:lnSpc>
            </a:pPr>
            <a:r>
              <a:rPr lang="en-US" sz="1200" dirty="0">
                <a:latin typeface="Segoe UI" panose="020B0502040204020203" pitchFamily="34" charset="0"/>
                <a:cs typeface="Segoe UI" panose="020B0502040204020203" pitchFamily="34" charset="0"/>
              </a:rPr>
              <a:t>• Direct Requirement (51.6%) and Meeting Interest (40.5%) are the strongest predictors of downstream conversion.</a:t>
            </a:r>
            <a:br>
              <a:rPr lang="en-US" sz="1200" dirty="0">
                <a:latin typeface="Segoe UI" panose="020B0502040204020203" pitchFamily="34" charset="0"/>
                <a:cs typeface="Segoe UI" panose="020B0502040204020203" pitchFamily="34" charset="0"/>
              </a:rPr>
            </a:br>
            <a:r>
              <a:rPr lang="en-US" sz="1200" dirty="0">
                <a:latin typeface="Segoe UI" panose="020B0502040204020203" pitchFamily="34" charset="0"/>
                <a:cs typeface="Segoe UI" panose="020B0502040204020203" pitchFamily="34" charset="0"/>
              </a:rPr>
              <a:t>• Conversion performance is strongest at the first touchpoint (8.0%) and declines significantly after the third contact.</a:t>
            </a:r>
            <a:br>
              <a:rPr lang="en-US" sz="1200" dirty="0">
                <a:latin typeface="Segoe UI" panose="020B0502040204020203" pitchFamily="34" charset="0"/>
                <a:cs typeface="Segoe UI" panose="020B0502040204020203" pitchFamily="34" charset="0"/>
              </a:rPr>
            </a:br>
            <a:r>
              <a:rPr lang="en-US" sz="1200" dirty="0">
                <a:latin typeface="Segoe UI" panose="020B0502040204020203" pitchFamily="34" charset="0"/>
                <a:cs typeface="Segoe UI" panose="020B0502040204020203" pitchFamily="34" charset="0"/>
              </a:rPr>
              <a:t>• Response quality and early buying intent are stronger predictors of conversion than outreach frequency.</a:t>
            </a:r>
            <a:endParaRPr lang="en-IN" sz="1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937337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D01DCB3-7CB2-490D-9C1E-C004E809372B}"/>
              </a:ext>
            </a:extLst>
          </p:cNvPr>
          <p:cNvSpPr>
            <a:spLocks noGrp="1" noChangeArrowheads="1"/>
          </p:cNvSpPr>
          <p:nvPr>
            <p:ph type="title"/>
          </p:nvPr>
        </p:nvSpPr>
        <p:spPr bwMode="auto">
          <a:xfrm>
            <a:off x="-12000" y="96364"/>
            <a:ext cx="12204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Business Recommendations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08BBC548-6642-4C32-8C7E-FD50C9F7FBB4}"/>
              </a:ext>
            </a:extLst>
          </p:cNvPr>
          <p:cNvSpPr/>
          <p:nvPr/>
        </p:nvSpPr>
        <p:spPr>
          <a:xfrm>
            <a:off x="233875" y="1043849"/>
            <a:ext cx="3685736" cy="4951828"/>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EC8536CD-3065-4FE8-AEFE-5945DF31058A}"/>
              </a:ext>
            </a:extLst>
          </p:cNvPr>
          <p:cNvSpPr/>
          <p:nvPr/>
        </p:nvSpPr>
        <p:spPr>
          <a:xfrm>
            <a:off x="4100733" y="1069144"/>
            <a:ext cx="3685736" cy="4951828"/>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20C653E0-E70E-4C70-A874-29E8185A3968}"/>
              </a:ext>
            </a:extLst>
          </p:cNvPr>
          <p:cNvSpPr/>
          <p:nvPr/>
        </p:nvSpPr>
        <p:spPr>
          <a:xfrm>
            <a:off x="7934180" y="1069144"/>
            <a:ext cx="3685736" cy="4951828"/>
          </a:xfrm>
          <a:prstGeom prst="rect">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1">
            <a:extLst>
              <a:ext uri="{FF2B5EF4-FFF2-40B4-BE49-F238E27FC236}">
                <a16:creationId xmlns:a16="http://schemas.microsoft.com/office/drawing/2014/main" id="{25333CBB-EE73-4940-AF0F-CE4B3FE23453}"/>
              </a:ext>
            </a:extLst>
          </p:cNvPr>
          <p:cNvSpPr>
            <a:spLocks noChangeArrowheads="1"/>
          </p:cNvSpPr>
          <p:nvPr/>
        </p:nvSpPr>
        <p:spPr bwMode="auto">
          <a:xfrm>
            <a:off x="233875" y="1082477"/>
            <a:ext cx="577217"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4F86F7"/>
                </a:solidFill>
                <a:effectLst/>
                <a:latin typeface="Segoe UI Semibold" panose="020B0702040204020203" pitchFamily="34" charset="0"/>
                <a:ea typeface="Segoe UI Black" panose="020B0A02040204020203" pitchFamily="34" charset="0"/>
                <a:cs typeface="Segoe UI Semibold" panose="020B0702040204020203" pitchFamily="34" charset="0"/>
              </a:rPr>
              <a:t>01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A8EDA034-DDC1-47D5-847A-5E3AECE58429}"/>
              </a:ext>
            </a:extLst>
          </p:cNvPr>
          <p:cNvSpPr>
            <a:spLocks noChangeArrowheads="1"/>
          </p:cNvSpPr>
          <p:nvPr/>
        </p:nvSpPr>
        <p:spPr bwMode="auto">
          <a:xfrm>
            <a:off x="283383" y="1679716"/>
            <a:ext cx="7154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C0E59AE3-FABF-45D1-A52D-9DC4A005F844}"/>
              </a:ext>
            </a:extLst>
          </p:cNvPr>
          <p:cNvSpPr txBox="1"/>
          <p:nvPr/>
        </p:nvSpPr>
        <p:spPr>
          <a:xfrm>
            <a:off x="704243" y="1849930"/>
            <a:ext cx="2679895" cy="523220"/>
          </a:xfrm>
          <a:prstGeom prst="rect">
            <a:avLst/>
          </a:prstGeom>
          <a:noFill/>
        </p:spPr>
        <p:txBody>
          <a:bodyPr wrap="square">
            <a:spAutoFit/>
          </a:bodyPr>
          <a:lstStyle/>
          <a:p>
            <a:pPr algn="ctr"/>
            <a:r>
              <a:rPr lang="en-US" sz="1400" dirty="0">
                <a:latin typeface="Segoe UI Semibold" panose="020B0702040204020203" pitchFamily="34" charset="0"/>
                <a:cs typeface="Segoe UI Semibold" panose="020B0702040204020203" pitchFamily="34" charset="0"/>
              </a:rPr>
              <a:t>Implement Email-Level</a:t>
            </a:r>
            <a:br>
              <a:rPr lang="en-US" sz="1400" dirty="0">
                <a:latin typeface="Segoe UI Semibold" panose="020B0702040204020203" pitchFamily="34" charset="0"/>
                <a:cs typeface="Segoe UI Semibold" panose="020B0702040204020203" pitchFamily="34" charset="0"/>
              </a:rPr>
            </a:br>
            <a:r>
              <a:rPr lang="en-US" sz="1400" dirty="0">
                <a:latin typeface="Segoe UI Semibold" panose="020B0702040204020203" pitchFamily="34" charset="0"/>
                <a:cs typeface="Segoe UI Semibold" panose="020B0702040204020203" pitchFamily="34" charset="0"/>
              </a:rPr>
              <a:t>Sender Assignment Rules</a:t>
            </a:r>
            <a:endParaRPr lang="en-IN" sz="1400" dirty="0">
              <a:latin typeface="Segoe UI Semibold" panose="020B0702040204020203" pitchFamily="34" charset="0"/>
              <a:cs typeface="Segoe UI Semibold" panose="020B0702040204020203" pitchFamily="34" charset="0"/>
            </a:endParaRPr>
          </a:p>
        </p:txBody>
      </p:sp>
      <p:sp>
        <p:nvSpPr>
          <p:cNvPr id="11" name="Rectangle 3">
            <a:extLst>
              <a:ext uri="{FF2B5EF4-FFF2-40B4-BE49-F238E27FC236}">
                <a16:creationId xmlns:a16="http://schemas.microsoft.com/office/drawing/2014/main" id="{B484A67F-3643-4A63-B69F-3CE9364D3FA7}"/>
              </a:ext>
            </a:extLst>
          </p:cNvPr>
          <p:cNvSpPr>
            <a:spLocks noChangeArrowheads="1"/>
          </p:cNvSpPr>
          <p:nvPr/>
        </p:nvSpPr>
        <p:spPr bwMode="auto">
          <a:xfrm>
            <a:off x="283383" y="2518563"/>
            <a:ext cx="798617"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RATIONALE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3E175D9D-544D-4892-8FD5-1AEAF7949712}"/>
              </a:ext>
            </a:extLst>
          </p:cNvPr>
          <p:cNvSpPr txBox="1"/>
          <p:nvPr/>
        </p:nvSpPr>
        <p:spPr>
          <a:xfrm>
            <a:off x="415855" y="2781997"/>
            <a:ext cx="3256670" cy="938719"/>
          </a:xfrm>
          <a:prstGeom prst="rect">
            <a:avLst/>
          </a:prstGeom>
          <a:noFill/>
        </p:spPr>
        <p:txBody>
          <a:bodyPr wrap="square">
            <a:spAutoFit/>
          </a:bodyPr>
          <a:lstStyle/>
          <a:p>
            <a:pPr algn="ctr"/>
            <a:r>
              <a:rPr lang="en-US" sz="1100" dirty="0">
                <a:latin typeface="Segoe UI" panose="020B0502040204020203" pitchFamily="34" charset="0"/>
                <a:cs typeface="Segoe UI" panose="020B0502040204020203" pitchFamily="34" charset="0"/>
              </a:rPr>
              <a:t>72.5% of prospect journeys experienced</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multi-sender outreach, while conversion</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performance differed by only 0.27 percentage</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points between single-sender and</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multi-sender journeys.</a:t>
            </a:r>
            <a:endParaRPr lang="en-IN" sz="1100" dirty="0">
              <a:latin typeface="Segoe UI" panose="020B0502040204020203" pitchFamily="34" charset="0"/>
              <a:cs typeface="Segoe UI" panose="020B0502040204020203" pitchFamily="34" charset="0"/>
            </a:endParaRPr>
          </a:p>
        </p:txBody>
      </p:sp>
      <p:sp>
        <p:nvSpPr>
          <p:cNvPr id="14" name="Rectangle 4">
            <a:extLst>
              <a:ext uri="{FF2B5EF4-FFF2-40B4-BE49-F238E27FC236}">
                <a16:creationId xmlns:a16="http://schemas.microsoft.com/office/drawing/2014/main" id="{05D636A8-0969-4EB4-B8AD-7AB288473A18}"/>
              </a:ext>
            </a:extLst>
          </p:cNvPr>
          <p:cNvSpPr>
            <a:spLocks noChangeArrowheads="1"/>
          </p:cNvSpPr>
          <p:nvPr/>
        </p:nvSpPr>
        <p:spPr bwMode="auto">
          <a:xfrm>
            <a:off x="233875" y="4670453"/>
            <a:ext cx="1175322"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EXPECTED</a:t>
            </a:r>
            <a:r>
              <a:rPr kumimoji="0" lang="en-US" altLang="en-US" sz="900" b="0" i="0" u="none" strike="noStrike" cap="none" normalizeH="0" baseline="0" dirty="0">
                <a:ln>
                  <a:noFill/>
                </a:ln>
                <a:solidFill>
                  <a:schemeClr val="tx2"/>
                </a:solidFill>
                <a:effectLst/>
                <a:latin typeface="Segoe UI Semibold" panose="020B0702040204020203" pitchFamily="34" charset="0"/>
                <a:cs typeface="Segoe UI Semibold" panose="020B0702040204020203" pitchFamily="34" charset="0"/>
              </a:rPr>
              <a:t> </a:t>
            </a: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IMPACT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40F46345-C41F-4ADB-B718-1353054F6C1A}"/>
              </a:ext>
            </a:extLst>
          </p:cNvPr>
          <p:cNvSpPr txBox="1"/>
          <p:nvPr/>
        </p:nvSpPr>
        <p:spPr>
          <a:xfrm>
            <a:off x="233875" y="5127936"/>
            <a:ext cx="3523957" cy="600164"/>
          </a:xfrm>
          <a:prstGeom prst="rect">
            <a:avLst/>
          </a:prstGeom>
          <a:noFill/>
        </p:spPr>
        <p:txBody>
          <a:bodyPr wrap="square">
            <a:spAutoFit/>
          </a:bodyPr>
          <a:lstStyle/>
          <a:p>
            <a:pPr algn="ctr"/>
            <a:r>
              <a:rPr lang="en-US" sz="1100" dirty="0">
                <a:latin typeface="Segoe UI" panose="020B0502040204020203" pitchFamily="34" charset="0"/>
                <a:cs typeface="Segoe UI" panose="020B0502040204020203" pitchFamily="34" charset="0"/>
              </a:rPr>
              <a:t>Reduce duplicate outreach,</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improve ownership clarity,</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and strengthen attribution integrity.</a:t>
            </a:r>
            <a:endParaRPr lang="en-IN" sz="1100" dirty="0">
              <a:latin typeface="Segoe UI" panose="020B0502040204020203" pitchFamily="34" charset="0"/>
              <a:cs typeface="Segoe UI" panose="020B0502040204020203" pitchFamily="34" charset="0"/>
            </a:endParaRPr>
          </a:p>
        </p:txBody>
      </p:sp>
      <p:sp>
        <p:nvSpPr>
          <p:cNvPr id="17" name="Rectangle 1">
            <a:extLst>
              <a:ext uri="{FF2B5EF4-FFF2-40B4-BE49-F238E27FC236}">
                <a16:creationId xmlns:a16="http://schemas.microsoft.com/office/drawing/2014/main" id="{D0EEF540-152B-43E3-B985-0697D1649885}"/>
              </a:ext>
            </a:extLst>
          </p:cNvPr>
          <p:cNvSpPr>
            <a:spLocks noChangeArrowheads="1"/>
          </p:cNvSpPr>
          <p:nvPr/>
        </p:nvSpPr>
        <p:spPr bwMode="auto">
          <a:xfrm>
            <a:off x="4100733" y="1075810"/>
            <a:ext cx="886263"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4F86F7"/>
                </a:solidFill>
                <a:effectLst/>
                <a:latin typeface="Segoe UI Semibold" panose="020B0702040204020203" pitchFamily="34" charset="0"/>
                <a:ea typeface="Segoe UI Black" panose="020B0A02040204020203" pitchFamily="34" charset="0"/>
                <a:cs typeface="Segoe UI Semibold" panose="020B0702040204020203" pitchFamily="34" charset="0"/>
              </a:rPr>
              <a:t>02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1">
            <a:extLst>
              <a:ext uri="{FF2B5EF4-FFF2-40B4-BE49-F238E27FC236}">
                <a16:creationId xmlns:a16="http://schemas.microsoft.com/office/drawing/2014/main" id="{2110A76D-5801-41A0-8975-3A1DB8D4F517}"/>
              </a:ext>
            </a:extLst>
          </p:cNvPr>
          <p:cNvSpPr>
            <a:spLocks noChangeArrowheads="1"/>
          </p:cNvSpPr>
          <p:nvPr/>
        </p:nvSpPr>
        <p:spPr bwMode="auto">
          <a:xfrm>
            <a:off x="7934180" y="1043849"/>
            <a:ext cx="738552"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4F86F7"/>
                </a:solidFill>
                <a:effectLst/>
                <a:latin typeface="Segoe UI Semibold" panose="020B0702040204020203" pitchFamily="34" charset="0"/>
                <a:ea typeface="Segoe UI Black" panose="020B0A02040204020203" pitchFamily="34" charset="0"/>
                <a:cs typeface="Segoe UI Semibold" panose="020B0702040204020203" pitchFamily="34" charset="0"/>
              </a:rPr>
              <a:t>03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2">
            <a:extLst>
              <a:ext uri="{FF2B5EF4-FFF2-40B4-BE49-F238E27FC236}">
                <a16:creationId xmlns:a16="http://schemas.microsoft.com/office/drawing/2014/main" id="{CF489499-91EB-4F71-88CE-4C924D02179E}"/>
              </a:ext>
            </a:extLst>
          </p:cNvPr>
          <p:cNvSpPr>
            <a:spLocks noChangeArrowheads="1"/>
          </p:cNvSpPr>
          <p:nvPr/>
        </p:nvSpPr>
        <p:spPr bwMode="auto">
          <a:xfrm>
            <a:off x="8082954" y="1658609"/>
            <a:ext cx="7154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2">
            <a:extLst>
              <a:ext uri="{FF2B5EF4-FFF2-40B4-BE49-F238E27FC236}">
                <a16:creationId xmlns:a16="http://schemas.microsoft.com/office/drawing/2014/main" id="{9D92EF92-546A-45BC-B188-9A5E078CE6B9}"/>
              </a:ext>
            </a:extLst>
          </p:cNvPr>
          <p:cNvSpPr>
            <a:spLocks noChangeArrowheads="1"/>
          </p:cNvSpPr>
          <p:nvPr/>
        </p:nvSpPr>
        <p:spPr bwMode="auto">
          <a:xfrm>
            <a:off x="4221107" y="1693314"/>
            <a:ext cx="71542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3">
            <a:extLst>
              <a:ext uri="{FF2B5EF4-FFF2-40B4-BE49-F238E27FC236}">
                <a16:creationId xmlns:a16="http://schemas.microsoft.com/office/drawing/2014/main" id="{C64EA57A-21BB-40A5-B643-FD4C83C92890}"/>
              </a:ext>
            </a:extLst>
          </p:cNvPr>
          <p:cNvSpPr>
            <a:spLocks noChangeArrowheads="1"/>
          </p:cNvSpPr>
          <p:nvPr/>
        </p:nvSpPr>
        <p:spPr bwMode="auto">
          <a:xfrm>
            <a:off x="8103732" y="2560131"/>
            <a:ext cx="798617"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RATIONALE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Rectangle 3">
            <a:extLst>
              <a:ext uri="{FF2B5EF4-FFF2-40B4-BE49-F238E27FC236}">
                <a16:creationId xmlns:a16="http://schemas.microsoft.com/office/drawing/2014/main" id="{FFD6CF3B-0646-4B07-9532-E8B6EE6CEA54}"/>
              </a:ext>
            </a:extLst>
          </p:cNvPr>
          <p:cNvSpPr>
            <a:spLocks noChangeArrowheads="1"/>
          </p:cNvSpPr>
          <p:nvPr/>
        </p:nvSpPr>
        <p:spPr bwMode="auto">
          <a:xfrm>
            <a:off x="4230850" y="2500682"/>
            <a:ext cx="798617"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RATIONALE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4">
            <a:extLst>
              <a:ext uri="{FF2B5EF4-FFF2-40B4-BE49-F238E27FC236}">
                <a16:creationId xmlns:a16="http://schemas.microsoft.com/office/drawing/2014/main" id="{BD673F50-AE86-47E7-8D46-84B09B4A205C}"/>
              </a:ext>
            </a:extLst>
          </p:cNvPr>
          <p:cNvSpPr>
            <a:spLocks noChangeArrowheads="1"/>
          </p:cNvSpPr>
          <p:nvPr/>
        </p:nvSpPr>
        <p:spPr bwMode="auto">
          <a:xfrm>
            <a:off x="8186926" y="4874020"/>
            <a:ext cx="1175322"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EXPECTED</a:t>
            </a:r>
            <a:r>
              <a:rPr kumimoji="0" lang="en-US" altLang="en-US" sz="900" b="0" i="0" u="none" strike="noStrike" cap="none" normalizeH="0" baseline="0" dirty="0">
                <a:ln>
                  <a:noFill/>
                </a:ln>
                <a:solidFill>
                  <a:schemeClr val="tx2"/>
                </a:solidFill>
                <a:effectLst/>
                <a:latin typeface="Segoe UI Semibold" panose="020B0702040204020203" pitchFamily="34" charset="0"/>
                <a:cs typeface="Segoe UI Semibold" panose="020B0702040204020203" pitchFamily="34" charset="0"/>
              </a:rPr>
              <a:t> </a:t>
            </a: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IMPACT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4">
            <a:extLst>
              <a:ext uri="{FF2B5EF4-FFF2-40B4-BE49-F238E27FC236}">
                <a16:creationId xmlns:a16="http://schemas.microsoft.com/office/drawing/2014/main" id="{CFC684C9-AA7A-42EF-8903-7D9C87BE74BC}"/>
              </a:ext>
            </a:extLst>
          </p:cNvPr>
          <p:cNvSpPr>
            <a:spLocks noChangeArrowheads="1"/>
          </p:cNvSpPr>
          <p:nvPr/>
        </p:nvSpPr>
        <p:spPr bwMode="auto">
          <a:xfrm>
            <a:off x="4251392" y="4697366"/>
            <a:ext cx="1175322"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EXPECTED</a:t>
            </a:r>
            <a:r>
              <a:rPr kumimoji="0" lang="en-US" altLang="en-US" sz="900" b="0" i="0" u="none" strike="noStrike" cap="none" normalizeH="0" baseline="0" dirty="0">
                <a:ln>
                  <a:noFill/>
                </a:ln>
                <a:solidFill>
                  <a:schemeClr val="tx2"/>
                </a:solidFill>
                <a:effectLst/>
                <a:latin typeface="Segoe UI Semibold" panose="020B0702040204020203" pitchFamily="34" charset="0"/>
                <a:cs typeface="Segoe UI Semibold" panose="020B0702040204020203" pitchFamily="34" charset="0"/>
              </a:rPr>
              <a:t> </a:t>
            </a:r>
            <a:r>
              <a:rPr kumimoji="0" lang="en-US" altLang="en-US" sz="900" b="0" i="0" u="none" strike="noStrike" cap="none" normalizeH="0" baseline="0" dirty="0">
                <a:ln>
                  <a:noFill/>
                </a:ln>
                <a:solidFill>
                  <a:schemeClr val="tx1">
                    <a:lumMod val="50000"/>
                    <a:lumOff val="50000"/>
                  </a:schemeClr>
                </a:solidFill>
                <a:effectLst/>
                <a:latin typeface="Segoe UI Semibold" panose="020B0702040204020203" pitchFamily="34" charset="0"/>
                <a:cs typeface="Segoe UI Semibold" panose="020B0702040204020203" pitchFamily="34" charset="0"/>
              </a:rPr>
              <a:t>IMPACT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TextBox 25">
            <a:extLst>
              <a:ext uri="{FF2B5EF4-FFF2-40B4-BE49-F238E27FC236}">
                <a16:creationId xmlns:a16="http://schemas.microsoft.com/office/drawing/2014/main" id="{5AC20D38-D489-4387-BD94-29E6DAE57C61}"/>
              </a:ext>
            </a:extLst>
          </p:cNvPr>
          <p:cNvSpPr txBox="1"/>
          <p:nvPr/>
        </p:nvSpPr>
        <p:spPr>
          <a:xfrm>
            <a:off x="4563139" y="1934052"/>
            <a:ext cx="3087858" cy="523220"/>
          </a:xfrm>
          <a:prstGeom prst="rect">
            <a:avLst/>
          </a:prstGeom>
          <a:noFill/>
        </p:spPr>
        <p:txBody>
          <a:bodyPr wrap="square">
            <a:spAutoFit/>
          </a:bodyPr>
          <a:lstStyle/>
          <a:p>
            <a:pPr algn="ctr"/>
            <a:r>
              <a:rPr lang="en-IN" sz="1400" dirty="0">
                <a:latin typeface="Segoe UI Semibold" panose="020B0702040204020203" pitchFamily="34" charset="0"/>
                <a:cs typeface="Segoe UI Semibold" panose="020B0702040204020203" pitchFamily="34" charset="0"/>
              </a:rPr>
              <a:t>Standardize CRM Identity</a:t>
            </a:r>
            <a:br>
              <a:rPr lang="en-IN" sz="1400" dirty="0">
                <a:latin typeface="Segoe UI Semibold" panose="020B0702040204020203" pitchFamily="34" charset="0"/>
                <a:cs typeface="Segoe UI Semibold" panose="020B0702040204020203" pitchFamily="34" charset="0"/>
              </a:rPr>
            </a:br>
            <a:r>
              <a:rPr lang="en-IN" sz="1400" dirty="0">
                <a:latin typeface="Segoe UI Semibold" panose="020B0702040204020203" pitchFamily="34" charset="0"/>
                <a:cs typeface="Segoe UI Semibold" panose="020B0702040204020203" pitchFamily="34" charset="0"/>
              </a:rPr>
              <a:t>Management &amp; Deduplication</a:t>
            </a:r>
          </a:p>
        </p:txBody>
      </p:sp>
      <p:sp>
        <p:nvSpPr>
          <p:cNvPr id="28" name="TextBox 27">
            <a:extLst>
              <a:ext uri="{FF2B5EF4-FFF2-40B4-BE49-F238E27FC236}">
                <a16:creationId xmlns:a16="http://schemas.microsoft.com/office/drawing/2014/main" id="{A936C14F-80FE-4EAE-8541-4EE34677DBC9}"/>
              </a:ext>
            </a:extLst>
          </p:cNvPr>
          <p:cNvSpPr txBox="1"/>
          <p:nvPr/>
        </p:nvSpPr>
        <p:spPr>
          <a:xfrm>
            <a:off x="4088534" y="2822311"/>
            <a:ext cx="3583862" cy="769441"/>
          </a:xfrm>
          <a:prstGeom prst="rect">
            <a:avLst/>
          </a:prstGeom>
          <a:noFill/>
        </p:spPr>
        <p:txBody>
          <a:bodyPr wrap="square">
            <a:spAutoFit/>
          </a:bodyPr>
          <a:lstStyle/>
          <a:p>
            <a:pPr algn="ctr"/>
            <a:r>
              <a:rPr lang="en-US" sz="1100" dirty="0">
                <a:latin typeface="Segoe UI" panose="020B0502040204020203" pitchFamily="34" charset="0"/>
                <a:cs typeface="Segoe UI" panose="020B0502040204020203" pitchFamily="34" charset="0"/>
              </a:rPr>
              <a:t>47.4% CRM duplication rate and</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96.9% sender overlap among duplicate</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identities indicate fragmented prospect</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ownership and inaccurate exposure tracking.</a:t>
            </a:r>
            <a:endParaRPr lang="en-IN" sz="1100" dirty="0">
              <a:latin typeface="Segoe UI" panose="020B0502040204020203" pitchFamily="34" charset="0"/>
              <a:cs typeface="Segoe UI" panose="020B0502040204020203" pitchFamily="34" charset="0"/>
            </a:endParaRPr>
          </a:p>
        </p:txBody>
      </p:sp>
      <p:sp>
        <p:nvSpPr>
          <p:cNvPr id="30" name="TextBox 29">
            <a:extLst>
              <a:ext uri="{FF2B5EF4-FFF2-40B4-BE49-F238E27FC236}">
                <a16:creationId xmlns:a16="http://schemas.microsoft.com/office/drawing/2014/main" id="{902A2A41-6E61-45C5-B589-50158B64C0E2}"/>
              </a:ext>
            </a:extLst>
          </p:cNvPr>
          <p:cNvSpPr txBox="1"/>
          <p:nvPr/>
        </p:nvSpPr>
        <p:spPr>
          <a:xfrm>
            <a:off x="4794872" y="5062405"/>
            <a:ext cx="2297457" cy="769441"/>
          </a:xfrm>
          <a:prstGeom prst="rect">
            <a:avLst/>
          </a:prstGeom>
          <a:noFill/>
        </p:spPr>
        <p:txBody>
          <a:bodyPr wrap="square">
            <a:spAutoFit/>
          </a:bodyPr>
          <a:lstStyle/>
          <a:p>
            <a:pPr algn="ctr"/>
            <a:r>
              <a:rPr lang="en-US" sz="1100" dirty="0">
                <a:latin typeface="Segoe UI" panose="020B0502040204020203" pitchFamily="34" charset="0"/>
                <a:cs typeface="Segoe UI" panose="020B0502040204020203" pitchFamily="34" charset="0"/>
              </a:rPr>
              <a:t>Improve contact accuracy,</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reduce duplicate records,</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and establish a trusted prospect view.</a:t>
            </a:r>
            <a:endParaRPr lang="en-IN" sz="1100" dirty="0">
              <a:latin typeface="Segoe UI" panose="020B0502040204020203" pitchFamily="34" charset="0"/>
              <a:cs typeface="Segoe UI" panose="020B0502040204020203" pitchFamily="34" charset="0"/>
            </a:endParaRPr>
          </a:p>
        </p:txBody>
      </p:sp>
      <p:sp>
        <p:nvSpPr>
          <p:cNvPr id="32" name="TextBox 31">
            <a:extLst>
              <a:ext uri="{FF2B5EF4-FFF2-40B4-BE49-F238E27FC236}">
                <a16:creationId xmlns:a16="http://schemas.microsoft.com/office/drawing/2014/main" id="{39771D6B-5505-4A1A-9E22-BE3517E8583E}"/>
              </a:ext>
            </a:extLst>
          </p:cNvPr>
          <p:cNvSpPr txBox="1"/>
          <p:nvPr/>
        </p:nvSpPr>
        <p:spPr>
          <a:xfrm>
            <a:off x="8303456" y="1920219"/>
            <a:ext cx="3184301" cy="523220"/>
          </a:xfrm>
          <a:prstGeom prst="rect">
            <a:avLst/>
          </a:prstGeom>
          <a:noFill/>
        </p:spPr>
        <p:txBody>
          <a:bodyPr wrap="square">
            <a:spAutoFit/>
          </a:bodyPr>
          <a:lstStyle/>
          <a:p>
            <a:pPr algn="ctr"/>
            <a:r>
              <a:rPr lang="en-US" sz="1400" dirty="0">
                <a:latin typeface="Segoe UI Semibold" panose="020B0702040204020203" pitchFamily="34" charset="0"/>
                <a:cs typeface="Segoe UI Semibold" panose="020B0702040204020203" pitchFamily="34" charset="0"/>
              </a:rPr>
              <a:t>Optimize Outreach Sequence</a:t>
            </a:r>
            <a:br>
              <a:rPr lang="en-US" sz="1400" dirty="0">
                <a:latin typeface="Segoe UI Semibold" panose="020B0702040204020203" pitchFamily="34" charset="0"/>
                <a:cs typeface="Segoe UI Semibold" panose="020B0702040204020203" pitchFamily="34" charset="0"/>
              </a:rPr>
            </a:br>
            <a:r>
              <a:rPr lang="en-US" sz="1400" dirty="0">
                <a:latin typeface="Segoe UI Semibold" panose="020B0702040204020203" pitchFamily="34" charset="0"/>
                <a:cs typeface="Segoe UI Semibold" panose="020B0702040204020203" pitchFamily="34" charset="0"/>
              </a:rPr>
              <a:t>Length &amp; Touchpoint Strategy</a:t>
            </a:r>
            <a:endParaRPr lang="en-IN" sz="1400" dirty="0">
              <a:latin typeface="Segoe UI Semibold" panose="020B0702040204020203" pitchFamily="34" charset="0"/>
              <a:cs typeface="Segoe UI Semibold" panose="020B0702040204020203" pitchFamily="34" charset="0"/>
            </a:endParaRPr>
          </a:p>
        </p:txBody>
      </p:sp>
      <p:sp>
        <p:nvSpPr>
          <p:cNvPr id="34" name="TextBox 33">
            <a:extLst>
              <a:ext uri="{FF2B5EF4-FFF2-40B4-BE49-F238E27FC236}">
                <a16:creationId xmlns:a16="http://schemas.microsoft.com/office/drawing/2014/main" id="{D598B7FB-5CD9-4F1F-B21B-9AE25610CCC9}"/>
              </a:ext>
            </a:extLst>
          </p:cNvPr>
          <p:cNvSpPr txBox="1"/>
          <p:nvPr/>
        </p:nvSpPr>
        <p:spPr>
          <a:xfrm>
            <a:off x="8303456" y="2830267"/>
            <a:ext cx="3087858" cy="769441"/>
          </a:xfrm>
          <a:prstGeom prst="rect">
            <a:avLst/>
          </a:prstGeom>
          <a:noFill/>
        </p:spPr>
        <p:txBody>
          <a:bodyPr wrap="square">
            <a:spAutoFit/>
          </a:bodyPr>
          <a:lstStyle/>
          <a:p>
            <a:pPr algn="ctr"/>
            <a:r>
              <a:rPr lang="en-US" sz="1100" dirty="0">
                <a:latin typeface="Segoe UI" panose="020B0502040204020203" pitchFamily="34" charset="0"/>
                <a:cs typeface="Segoe UI" panose="020B0502040204020203" pitchFamily="34" charset="0"/>
              </a:rPr>
              <a:t>Conversion declined from 8.0% at</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Touchpoint 1 to 1.1% at Touchpoint 5,</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while the highest journey volume was</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concentrated in later-stage outreach.</a:t>
            </a:r>
            <a:endParaRPr lang="en-IN" sz="1100" dirty="0">
              <a:latin typeface="Segoe UI" panose="020B0502040204020203" pitchFamily="34" charset="0"/>
              <a:cs typeface="Segoe UI" panose="020B0502040204020203" pitchFamily="34" charset="0"/>
            </a:endParaRPr>
          </a:p>
        </p:txBody>
      </p:sp>
      <p:sp>
        <p:nvSpPr>
          <p:cNvPr id="35" name="Rectangle 5">
            <a:extLst>
              <a:ext uri="{FF2B5EF4-FFF2-40B4-BE49-F238E27FC236}">
                <a16:creationId xmlns:a16="http://schemas.microsoft.com/office/drawing/2014/main" id="{23FC6AD5-67F5-44CD-931F-8FC606094521}"/>
              </a:ext>
            </a:extLst>
          </p:cNvPr>
          <p:cNvSpPr>
            <a:spLocks noChangeArrowheads="1"/>
          </p:cNvSpPr>
          <p:nvPr/>
        </p:nvSpPr>
        <p:spPr bwMode="auto">
          <a:xfrm>
            <a:off x="8233119" y="5127936"/>
            <a:ext cx="308785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Reduce outreach effort,</a:t>
            </a:r>
            <a:br>
              <a:rPr kumimoji="0" lang="en-US" altLang="en-US" sz="11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br>
            <a:r>
              <a:rPr kumimoji="0" lang="en-US" altLang="en-US" sz="11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improve seller productivity,</a:t>
            </a:r>
            <a:br>
              <a:rPr kumimoji="0" lang="en-US" altLang="en-US" sz="11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br>
            <a:r>
              <a:rPr kumimoji="0" lang="en-US" altLang="en-US" sz="11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and focus activity on high-probability leads.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p:txBody>
      </p:sp>
      <p:sp>
        <p:nvSpPr>
          <p:cNvPr id="36" name="Rectangle 6">
            <a:extLst>
              <a:ext uri="{FF2B5EF4-FFF2-40B4-BE49-F238E27FC236}">
                <a16:creationId xmlns:a16="http://schemas.microsoft.com/office/drawing/2014/main" id="{55208B89-53CC-4869-8B14-D82FC552F3DE}"/>
              </a:ext>
            </a:extLst>
          </p:cNvPr>
          <p:cNvSpPr>
            <a:spLocks noChangeArrowheads="1"/>
          </p:cNvSpPr>
          <p:nvPr/>
        </p:nvSpPr>
        <p:spPr bwMode="auto">
          <a:xfrm>
            <a:off x="397411" y="6188322"/>
            <a:ext cx="72529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Outbound Funnel Intelligence | SQL • Power BI • Data Modeling | 18,014 Journeys Analyzed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p:txBody>
      </p:sp>
      <p:sp>
        <p:nvSpPr>
          <p:cNvPr id="2" name="TextBox 1">
            <a:extLst>
              <a:ext uri="{FF2B5EF4-FFF2-40B4-BE49-F238E27FC236}">
                <a16:creationId xmlns:a16="http://schemas.microsoft.com/office/drawing/2014/main" id="{FB8AF262-C8B2-4787-9C62-ED17BC9A7E1D}"/>
              </a:ext>
            </a:extLst>
          </p:cNvPr>
          <p:cNvSpPr txBox="1"/>
          <p:nvPr/>
        </p:nvSpPr>
        <p:spPr>
          <a:xfrm>
            <a:off x="281354" y="3853635"/>
            <a:ext cx="1482562" cy="230832"/>
          </a:xfrm>
          <a:prstGeom prst="rect">
            <a:avLst/>
          </a:prstGeom>
          <a:noFill/>
        </p:spPr>
        <p:txBody>
          <a:bodyPr wrap="square" rtlCol="0">
            <a:spAutoFit/>
          </a:bodyPr>
          <a:lstStyle/>
          <a:p>
            <a:r>
              <a:rPr lang="en-US" sz="900" b="1" dirty="0">
                <a:solidFill>
                  <a:schemeClr val="tx1">
                    <a:lumMod val="50000"/>
                    <a:lumOff val="50000"/>
                  </a:schemeClr>
                </a:solidFill>
                <a:latin typeface="Segoe UI Semibold" panose="020B0702040204020203" pitchFamily="34" charset="0"/>
                <a:cs typeface="Segoe UI Semibold" panose="020B0702040204020203" pitchFamily="34" charset="0"/>
              </a:rPr>
              <a:t>SUCCESS METRIC</a:t>
            </a:r>
            <a:endParaRPr lang="en-IN" sz="900" b="1" dirty="0">
              <a:solidFill>
                <a:schemeClr val="tx1">
                  <a:lumMod val="50000"/>
                  <a:lumOff val="50000"/>
                </a:schemeClr>
              </a:solidFill>
              <a:latin typeface="Segoe UI Semibold" panose="020B0702040204020203" pitchFamily="34" charset="0"/>
              <a:cs typeface="Segoe UI Semibold" panose="020B0702040204020203" pitchFamily="34" charset="0"/>
            </a:endParaRPr>
          </a:p>
        </p:txBody>
      </p:sp>
      <p:sp>
        <p:nvSpPr>
          <p:cNvPr id="31" name="TextBox 30">
            <a:extLst>
              <a:ext uri="{FF2B5EF4-FFF2-40B4-BE49-F238E27FC236}">
                <a16:creationId xmlns:a16="http://schemas.microsoft.com/office/drawing/2014/main" id="{6901802E-E52F-4DF3-98C3-D21C730F700E}"/>
              </a:ext>
            </a:extLst>
          </p:cNvPr>
          <p:cNvSpPr txBox="1"/>
          <p:nvPr/>
        </p:nvSpPr>
        <p:spPr>
          <a:xfrm>
            <a:off x="679342" y="4050036"/>
            <a:ext cx="2510019" cy="769441"/>
          </a:xfrm>
          <a:prstGeom prst="rect">
            <a:avLst/>
          </a:prstGeom>
          <a:noFill/>
        </p:spPr>
        <p:txBody>
          <a:bodyPr wrap="square">
            <a:spAutoFit/>
          </a:bodyPr>
          <a:lstStyle/>
          <a:p>
            <a:pPr algn="ctr"/>
            <a:r>
              <a:rPr lang="en-IN" sz="1100" dirty="0">
                <a:latin typeface="Segoe UI" panose="020B0502040204020203" pitchFamily="34" charset="0"/>
                <a:cs typeface="Segoe UI" panose="020B0502040204020203" pitchFamily="34" charset="0"/>
              </a:rPr>
              <a:t>Sender Overlap Rate</a:t>
            </a:r>
            <a:br>
              <a:rPr lang="en-IN" sz="1100" dirty="0">
                <a:latin typeface="Segoe UI" panose="020B0502040204020203" pitchFamily="34" charset="0"/>
                <a:cs typeface="Segoe UI" panose="020B0502040204020203" pitchFamily="34" charset="0"/>
              </a:rPr>
            </a:br>
            <a:r>
              <a:rPr lang="en-IN" sz="1100" dirty="0">
                <a:latin typeface="Segoe UI" panose="020B0502040204020203" pitchFamily="34" charset="0"/>
                <a:cs typeface="Segoe UI" panose="020B0502040204020203" pitchFamily="34" charset="0"/>
              </a:rPr>
              <a:t>Baseline: 72.5%</a:t>
            </a:r>
          </a:p>
          <a:p>
            <a:pPr algn="ctr"/>
            <a:r>
              <a:rPr lang="en-IN" sz="1100" dirty="0">
                <a:latin typeface="Segoe UI" panose="020B0502040204020203" pitchFamily="34" charset="0"/>
                <a:cs typeface="Segoe UI" panose="020B0502040204020203" pitchFamily="34" charset="0"/>
              </a:rPr>
              <a:t>Direction: Decrease</a:t>
            </a:r>
            <a:br>
              <a:rPr lang="en-IN" sz="1100" dirty="0">
                <a:latin typeface="Segoe UI" panose="020B0502040204020203" pitchFamily="34" charset="0"/>
                <a:cs typeface="Segoe UI" panose="020B0502040204020203" pitchFamily="34" charset="0"/>
              </a:rPr>
            </a:br>
            <a:endParaRPr lang="en-IN" sz="1100" dirty="0">
              <a:latin typeface="Segoe UI" panose="020B0502040204020203" pitchFamily="34" charset="0"/>
              <a:cs typeface="Segoe UI" panose="020B0502040204020203" pitchFamily="34" charset="0"/>
            </a:endParaRPr>
          </a:p>
        </p:txBody>
      </p:sp>
      <p:sp>
        <p:nvSpPr>
          <p:cNvPr id="33" name="TextBox 32">
            <a:extLst>
              <a:ext uri="{FF2B5EF4-FFF2-40B4-BE49-F238E27FC236}">
                <a16:creationId xmlns:a16="http://schemas.microsoft.com/office/drawing/2014/main" id="{CF5BD12D-2EAC-4584-A9B9-016E1D1C5FCD}"/>
              </a:ext>
            </a:extLst>
          </p:cNvPr>
          <p:cNvSpPr txBox="1"/>
          <p:nvPr/>
        </p:nvSpPr>
        <p:spPr>
          <a:xfrm>
            <a:off x="3738843" y="3798343"/>
            <a:ext cx="2067004" cy="230832"/>
          </a:xfrm>
          <a:prstGeom prst="rect">
            <a:avLst/>
          </a:prstGeom>
          <a:noFill/>
        </p:spPr>
        <p:txBody>
          <a:bodyPr wrap="square">
            <a:spAutoFit/>
          </a:bodyPr>
          <a:lstStyle/>
          <a:p>
            <a:pPr algn="ctr"/>
            <a:r>
              <a:rPr lang="en-US" sz="900" b="1" dirty="0">
                <a:solidFill>
                  <a:schemeClr val="tx1">
                    <a:lumMod val="50000"/>
                    <a:lumOff val="50000"/>
                  </a:schemeClr>
                </a:solidFill>
                <a:latin typeface="Segoe UI Semibold" panose="020B0702040204020203" pitchFamily="34" charset="0"/>
                <a:cs typeface="Segoe UI Semibold" panose="020B0702040204020203" pitchFamily="34" charset="0"/>
              </a:rPr>
              <a:t>SUCCESS METRIC</a:t>
            </a:r>
            <a:endParaRPr lang="en-IN" sz="900" b="1" dirty="0">
              <a:solidFill>
                <a:schemeClr val="tx1">
                  <a:lumMod val="50000"/>
                  <a:lumOff val="50000"/>
                </a:schemeClr>
              </a:solidFill>
              <a:latin typeface="Segoe UI Semibold" panose="020B0702040204020203" pitchFamily="34" charset="0"/>
              <a:cs typeface="Segoe UI Semibold" panose="020B0702040204020203" pitchFamily="34" charset="0"/>
            </a:endParaRPr>
          </a:p>
        </p:txBody>
      </p:sp>
      <p:sp>
        <p:nvSpPr>
          <p:cNvPr id="37" name="TextBox 36">
            <a:extLst>
              <a:ext uri="{FF2B5EF4-FFF2-40B4-BE49-F238E27FC236}">
                <a16:creationId xmlns:a16="http://schemas.microsoft.com/office/drawing/2014/main" id="{9DCE34CC-0623-41A9-BBE3-0D794D4F3D5D}"/>
              </a:ext>
            </a:extLst>
          </p:cNvPr>
          <p:cNvSpPr txBox="1"/>
          <p:nvPr/>
        </p:nvSpPr>
        <p:spPr>
          <a:xfrm>
            <a:off x="5065504" y="4032937"/>
            <a:ext cx="1722783" cy="600164"/>
          </a:xfrm>
          <a:prstGeom prst="rect">
            <a:avLst/>
          </a:prstGeom>
          <a:noFill/>
        </p:spPr>
        <p:txBody>
          <a:bodyPr wrap="square">
            <a:spAutoFit/>
          </a:bodyPr>
          <a:lstStyle/>
          <a:p>
            <a:pPr algn="ctr"/>
            <a:r>
              <a:rPr lang="en-US" sz="1100" dirty="0">
                <a:latin typeface="Segoe UI" panose="020B0502040204020203" pitchFamily="34" charset="0"/>
                <a:cs typeface="Segoe UI" panose="020B0502040204020203" pitchFamily="34" charset="0"/>
              </a:rPr>
              <a:t>CRM Duplication Rate</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Baseline: 47.4%</a:t>
            </a:r>
          </a:p>
          <a:p>
            <a:pPr algn="ctr"/>
            <a:r>
              <a:rPr lang="en-US" sz="1100" dirty="0">
                <a:latin typeface="Segoe UI" panose="020B0502040204020203" pitchFamily="34" charset="0"/>
                <a:cs typeface="Segoe UI" panose="020B0502040204020203" pitchFamily="34" charset="0"/>
              </a:rPr>
              <a:t>Direction: Decrease</a:t>
            </a:r>
            <a:endParaRPr lang="en-IN" sz="1100" dirty="0">
              <a:latin typeface="Segoe UI" panose="020B0502040204020203" pitchFamily="34" charset="0"/>
              <a:cs typeface="Segoe UI" panose="020B0502040204020203" pitchFamily="34" charset="0"/>
            </a:endParaRPr>
          </a:p>
        </p:txBody>
      </p:sp>
      <p:sp>
        <p:nvSpPr>
          <p:cNvPr id="38" name="TextBox 37">
            <a:extLst>
              <a:ext uri="{FF2B5EF4-FFF2-40B4-BE49-F238E27FC236}">
                <a16:creationId xmlns:a16="http://schemas.microsoft.com/office/drawing/2014/main" id="{4EF23955-AC10-4C92-8876-735BFAD09E14}"/>
              </a:ext>
            </a:extLst>
          </p:cNvPr>
          <p:cNvSpPr txBox="1"/>
          <p:nvPr/>
        </p:nvSpPr>
        <p:spPr>
          <a:xfrm>
            <a:off x="7971110" y="3693126"/>
            <a:ext cx="1404550" cy="230832"/>
          </a:xfrm>
          <a:prstGeom prst="rect">
            <a:avLst/>
          </a:prstGeom>
          <a:noFill/>
        </p:spPr>
        <p:txBody>
          <a:bodyPr wrap="square">
            <a:spAutoFit/>
          </a:bodyPr>
          <a:lstStyle/>
          <a:p>
            <a:pPr algn="ctr"/>
            <a:r>
              <a:rPr lang="en-US" sz="900" b="1" dirty="0">
                <a:solidFill>
                  <a:schemeClr val="tx1">
                    <a:lumMod val="50000"/>
                    <a:lumOff val="50000"/>
                  </a:schemeClr>
                </a:solidFill>
                <a:latin typeface="Segoe UI Semibold" panose="020B0702040204020203" pitchFamily="34" charset="0"/>
                <a:cs typeface="Segoe UI Semibold" panose="020B0702040204020203" pitchFamily="34" charset="0"/>
              </a:rPr>
              <a:t>SUCCESS METRIC</a:t>
            </a:r>
            <a:endParaRPr lang="en-IN" sz="900" b="1" dirty="0">
              <a:solidFill>
                <a:schemeClr val="tx1">
                  <a:lumMod val="50000"/>
                  <a:lumOff val="50000"/>
                </a:schemeClr>
              </a:solidFill>
              <a:latin typeface="Segoe UI Semibold" panose="020B0702040204020203" pitchFamily="34" charset="0"/>
              <a:cs typeface="Segoe UI Semibold" panose="020B0702040204020203" pitchFamily="34" charset="0"/>
            </a:endParaRPr>
          </a:p>
        </p:txBody>
      </p:sp>
      <p:sp>
        <p:nvSpPr>
          <p:cNvPr id="39" name="TextBox 38">
            <a:extLst>
              <a:ext uri="{FF2B5EF4-FFF2-40B4-BE49-F238E27FC236}">
                <a16:creationId xmlns:a16="http://schemas.microsoft.com/office/drawing/2014/main" id="{5320424B-D4B6-44A5-8A4A-2E285CCC988C}"/>
              </a:ext>
            </a:extLst>
          </p:cNvPr>
          <p:cNvSpPr txBox="1"/>
          <p:nvPr/>
        </p:nvSpPr>
        <p:spPr>
          <a:xfrm>
            <a:off x="8303456" y="3966737"/>
            <a:ext cx="2916556" cy="430887"/>
          </a:xfrm>
          <a:prstGeom prst="rect">
            <a:avLst/>
          </a:prstGeom>
          <a:noFill/>
        </p:spPr>
        <p:txBody>
          <a:bodyPr wrap="square">
            <a:spAutoFit/>
          </a:bodyPr>
          <a:lstStyle/>
          <a:p>
            <a:pPr algn="ctr"/>
            <a:r>
              <a:rPr lang="en-US" sz="1100" dirty="0">
                <a:latin typeface="Segoe UI" panose="020B0502040204020203" pitchFamily="34" charset="0"/>
                <a:cs typeface="Segoe UI" panose="020B0502040204020203" pitchFamily="34" charset="0"/>
              </a:rPr>
              <a:t>Outreach Efficiency</a:t>
            </a:r>
            <a:br>
              <a:rPr lang="en-US" sz="1100" dirty="0">
                <a:latin typeface="Segoe UI" panose="020B0502040204020203" pitchFamily="34" charset="0"/>
                <a:cs typeface="Segoe UI" panose="020B0502040204020203" pitchFamily="34" charset="0"/>
              </a:rPr>
            </a:br>
            <a:r>
              <a:rPr lang="en-US" sz="1100" dirty="0">
                <a:latin typeface="Segoe UI" panose="020B0502040204020203" pitchFamily="34" charset="0"/>
                <a:cs typeface="Segoe UI" panose="020B0502040204020203" pitchFamily="34" charset="0"/>
              </a:rPr>
              <a:t>(Conversion Rate per Touchpoint Stage)</a:t>
            </a:r>
          </a:p>
        </p:txBody>
      </p:sp>
    </p:spTree>
    <p:extLst>
      <p:ext uri="{BB962C8B-B14F-4D97-AF65-F5344CB8AC3E}">
        <p14:creationId xmlns:p14="http://schemas.microsoft.com/office/powerpoint/2010/main" val="30712071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807</TotalTime>
  <Words>680</Words>
  <Application>Microsoft Office PowerPoint</Application>
  <PresentationFormat>Widescreen</PresentationFormat>
  <Paragraphs>122</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Segoe UI</vt:lpstr>
      <vt:lpstr>Segoe UI Black</vt:lpstr>
      <vt:lpstr>Segoe UI Semibold</vt:lpstr>
      <vt:lpstr>Office Theme</vt:lpstr>
      <vt:lpstr>Project Context &amp; Business Problem </vt:lpstr>
      <vt:lpstr>Analytical Approach </vt:lpstr>
      <vt:lpstr>Funnel Performance Findings </vt:lpstr>
      <vt:lpstr>Sender Overlap &amp; CRM Duplication </vt:lpstr>
      <vt:lpstr>Response Quality &amp; Outreach Efficiency </vt:lpstr>
      <vt:lpstr>Business Recommendations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vicky</dc:creator>
  <cp:lastModifiedBy>vicky</cp:lastModifiedBy>
  <cp:revision>65</cp:revision>
  <dcterms:created xsi:type="dcterms:W3CDTF">2026-06-06T12:56:39Z</dcterms:created>
  <dcterms:modified xsi:type="dcterms:W3CDTF">2026-06-16T16:45:09Z</dcterms:modified>
</cp:coreProperties>
</file>